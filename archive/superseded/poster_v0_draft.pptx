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32918400" cy="43891200"/>
  <p:notesSz cx="6858000" cy="91440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0334"/>
    <a:srgbClr val="4F2171"/>
    <a:srgbClr val="441D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D806B4-9F47-40AB-9C55-77790E060F2F}" v="3" dt="2024-11-12T17:56:15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25" d="100"/>
          <a:sy n="25" d="100"/>
        </p:scale>
        <p:origin x="6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le Lipp (GCE)" userId="ddad3de7-a67b-433d-94cc-b10c6e15069c" providerId="ADAL" clId="{DDD806B4-9F47-40AB-9C55-77790E060F2F}"/>
    <pc:docChg chg="undo custSel modSld">
      <pc:chgData name="Michelle Lipp (GCE)" userId="ddad3de7-a67b-433d-94cc-b10c6e15069c" providerId="ADAL" clId="{DDD806B4-9F47-40AB-9C55-77790E060F2F}" dt="2024-11-12T17:58:02.137" v="74" actId="20577"/>
      <pc:docMkLst>
        <pc:docMk/>
      </pc:docMkLst>
      <pc:sldChg chg="addSp delSp modSp mod">
        <pc:chgData name="Michelle Lipp (GCE)" userId="ddad3de7-a67b-433d-94cc-b10c6e15069c" providerId="ADAL" clId="{DDD806B4-9F47-40AB-9C55-77790E060F2F}" dt="2024-11-12T17:58:02.137" v="74" actId="20577"/>
        <pc:sldMkLst>
          <pc:docMk/>
          <pc:sldMk cId="3523442882" sldId="256"/>
        </pc:sldMkLst>
        <pc:spChg chg="mod">
          <ac:chgData name="Michelle Lipp (GCE)" userId="ddad3de7-a67b-433d-94cc-b10c6e15069c" providerId="ADAL" clId="{DDD806B4-9F47-40AB-9C55-77790E060F2F}" dt="2024-11-12T17:58:02.137" v="74" actId="20577"/>
          <ac:spMkLst>
            <pc:docMk/>
            <pc:sldMk cId="3523442882" sldId="256"/>
            <ac:spMk id="14" creationId="{00000000-0000-0000-0000-000000000000}"/>
          </ac:spMkLst>
        </pc:spChg>
        <pc:picChg chg="add mod">
          <ac:chgData name="Michelle Lipp (GCE)" userId="ddad3de7-a67b-433d-94cc-b10c6e15069c" providerId="ADAL" clId="{DDD806B4-9F47-40AB-9C55-77790E060F2F}" dt="2024-11-12T17:55:59.732" v="3"/>
          <ac:picMkLst>
            <pc:docMk/>
            <pc:sldMk cId="3523442882" sldId="256"/>
            <ac:picMk id="2" creationId="{42234848-BC68-584A-F1EF-BFDFD4DA8969}"/>
          </ac:picMkLst>
        </pc:picChg>
        <pc:picChg chg="add mod">
          <ac:chgData name="Michelle Lipp (GCE)" userId="ddad3de7-a67b-433d-94cc-b10c6e15069c" providerId="ADAL" clId="{DDD806B4-9F47-40AB-9C55-77790E060F2F}" dt="2024-11-12T17:56:46.077" v="15" actId="1076"/>
          <ac:picMkLst>
            <pc:docMk/>
            <pc:sldMk cId="3523442882" sldId="256"/>
            <ac:picMk id="3" creationId="{5C2C354B-5570-E4E3-B400-F36CB4050B60}"/>
          </ac:picMkLst>
        </pc:picChg>
        <pc:picChg chg="del">
          <ac:chgData name="Michelle Lipp (GCE)" userId="ddad3de7-a67b-433d-94cc-b10c6e15069c" providerId="ADAL" clId="{DDD806B4-9F47-40AB-9C55-77790E060F2F}" dt="2024-11-12T17:56:10.656" v="10" actId="478"/>
          <ac:picMkLst>
            <pc:docMk/>
            <pc:sldMk cId="3523442882" sldId="256"/>
            <ac:picMk id="5" creationId="{00000000-0000-0000-0000-000000000000}"/>
          </ac:picMkLst>
        </pc:picChg>
        <pc:picChg chg="del">
          <ac:chgData name="Michelle Lipp (GCE)" userId="ddad3de7-a67b-433d-94cc-b10c6e15069c" providerId="ADAL" clId="{DDD806B4-9F47-40AB-9C55-77790E060F2F}" dt="2024-11-12T17:56:09.611" v="9" actId="478"/>
          <ac:picMkLst>
            <pc:docMk/>
            <pc:sldMk cId="3523442882" sldId="256"/>
            <ac:picMk id="7" creationId="{00000000-0000-0000-0000-000000000000}"/>
          </ac:picMkLst>
        </pc:picChg>
        <pc:picChg chg="del">
          <ac:chgData name="Michelle Lipp (GCE)" userId="ddad3de7-a67b-433d-94cc-b10c6e15069c" providerId="ADAL" clId="{DDD806B4-9F47-40AB-9C55-77790E060F2F}" dt="2024-11-12T17:56:08.624" v="8" actId="478"/>
          <ac:picMkLst>
            <pc:docMk/>
            <pc:sldMk cId="3523442882" sldId="256"/>
            <ac:picMk id="8" creationId="{00000000-0000-0000-0000-000000000000}"/>
          </ac:picMkLst>
        </pc:picChg>
        <pc:picChg chg="del">
          <ac:chgData name="Michelle Lipp (GCE)" userId="ddad3de7-a67b-433d-94cc-b10c6e15069c" providerId="ADAL" clId="{DDD806B4-9F47-40AB-9C55-77790E060F2F}" dt="2024-11-12T17:56:07.752" v="7" actId="478"/>
          <ac:picMkLst>
            <pc:docMk/>
            <pc:sldMk cId="3523442882" sldId="256"/>
            <ac:picMk id="9" creationId="{00000000-0000-0000-0000-000000000000}"/>
          </ac:picMkLst>
        </pc:picChg>
        <pc:picChg chg="del">
          <ac:chgData name="Michelle Lipp (GCE)" userId="ddad3de7-a67b-433d-94cc-b10c6e15069c" providerId="ADAL" clId="{DDD806B4-9F47-40AB-9C55-77790E060F2F}" dt="2024-11-12T17:56:06.789" v="6" actId="478"/>
          <ac:picMkLst>
            <pc:docMk/>
            <pc:sldMk cId="3523442882" sldId="256"/>
            <ac:picMk id="10" creationId="{00000000-0000-0000-0000-000000000000}"/>
          </ac:picMkLst>
        </pc:picChg>
        <pc:picChg chg="del">
          <ac:chgData name="Michelle Lipp (GCE)" userId="ddad3de7-a67b-433d-94cc-b10c6e15069c" providerId="ADAL" clId="{DDD806B4-9F47-40AB-9C55-77790E060F2F}" dt="2024-11-12T17:56:05.874" v="5" actId="478"/>
          <ac:picMkLst>
            <pc:docMk/>
            <pc:sldMk cId="3523442882" sldId="256"/>
            <ac:picMk id="11" creationId="{00000000-0000-0000-0000-000000000000}"/>
          </ac:picMkLst>
        </pc:picChg>
        <pc:picChg chg="del">
          <ac:chgData name="Michelle Lipp (GCE)" userId="ddad3de7-a67b-433d-94cc-b10c6e15069c" providerId="ADAL" clId="{DDD806B4-9F47-40AB-9C55-77790E060F2F}" dt="2024-11-12T17:56:04.113" v="4" actId="478"/>
          <ac:picMkLst>
            <pc:docMk/>
            <pc:sldMk cId="3523442882" sldId="256"/>
            <ac:picMk id="12" creationId="{00000000-0000-0000-0000-000000000000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73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3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59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79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6032480"/>
            <a:ext cx="13926024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759443"/>
            <a:ext cx="13994608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52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03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06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30"/>
            <a:ext cx="16664940" cy="311912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31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319530"/>
            <a:ext cx="16664940" cy="311912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05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91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21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11913-F300-43E2-BF3B-5FB217FBE680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9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2C354B-5570-E4E3-B400-F36CB4050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4424" y="6818299"/>
            <a:ext cx="5228924" cy="52289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32918400" cy="5486400"/>
          </a:xfrm>
          <a:prstGeom prst="rect">
            <a:avLst/>
          </a:prstGeom>
          <a:solidFill>
            <a:srgbClr val="14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49240"/>
            <a:ext cx="32918400" cy="13716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0" y="548640"/>
            <a:ext cx="420624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57200"/>
            <a:ext cx="2670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BFD4F2"/>
                </a:solidFill>
                <a:latin typeface="Arial"/>
              </a:defRPr>
            </a:pPr>
            <a:r>
              <a:t>GRAND CANYON UNIVERSITY  |  COLLEGE OF SCIENCE, ENGINEERING, AND TECHNOLOGY  |  TECHNOLOGY CAPSTONE SHOWCASE</a:t>
            </a:r>
          </a:p>
          <a:p>
            <a:pPr>
              <a:spcAft>
                <a:spcPts val="4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Telehealth Hypertension Analytics</a:t>
            </a:r>
          </a:p>
          <a:p>
            <a:pPr>
              <a:spcAft>
                <a:spcPts val="1400"/>
              </a:spcAft>
              <a:defRPr sz="2400">
                <a:solidFill>
                  <a:srgbClr val="EBF2FA"/>
                </a:solidFill>
                <a:latin typeface="Calibri"/>
              </a:defRPr>
            </a:pPr>
            <a:r>
              <a:t>Continuous Ambulatory Telemetry, Explainable Machine Learning, and Clinical Risk Stratification</a:t>
            </a:r>
          </a:p>
          <a:p>
            <a:pPr>
              <a:defRPr sz="1400">
                <a:solidFill>
                  <a:srgbClr val="CBD5E1"/>
                </a:solidFill>
                <a:latin typeface="Calibri"/>
              </a:defRPr>
            </a:pPr>
            <a:r>
              <a:t>Author: Raja Chakraborty (Candidate for M.S. in Data Science)   |   Faculty Advisor: Jonathan Pollyn   |   Course: DSC-590   |   Date: October 2026</a:t>
            </a:r>
            <a:br/>
            <a:r>
              <a:t>GitHub Repository: https://github.com/rajachakraborti/telehealth-hypertension-analytics   |   Release Tag: topic7-submission   |   Commit: 73adefd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52160"/>
            <a:ext cx="10058400" cy="10241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852160"/>
            <a:ext cx="10058400" cy="1005840"/>
          </a:xfrm>
          <a:prstGeom prst="rect">
            <a:avLst/>
          </a:prstGeom>
          <a:solidFill>
            <a:srgbClr val="14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1. Project 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949440"/>
            <a:ext cx="9692640" cy="8961120"/>
          </a:xfrm>
          <a:prstGeom prst="rect">
            <a:avLst/>
          </a:prstGeom>
          <a:noFill/>
        </p:spPr>
        <p:txBody>
          <a:bodyPr wrap="square" anchor="t" lIns="182880" rIns="18288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500">
                <a:solidFill>
                  <a:srgbClr val="14306B"/>
                </a:solidFill>
                <a:latin typeface="Calibri"/>
              </a:rPr>
              <a:t>Clinical Background: </a:t>
            </a:r>
            <a:r>
              <a:rPr b="0" sz="1500">
                <a:solidFill>
                  <a:srgbClr val="1F2933"/>
                </a:solidFill>
                <a:latin typeface="Calibri"/>
              </a:rPr>
              <a:t>Cardiovascular disease is the leading global cause of mortality, with hypertension serving as its primary modifiable risk factor. Routine care relies on brief clinical spot-checks, which miss crucial ambulatory dynamics (Whelton et al., 2018).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500">
                <a:solidFill>
                  <a:srgbClr val="1F2933"/>
                </a:solidFill>
                <a:latin typeface="Calibri"/>
              </a:rPr>
              <a:t>Diagnostic Blind Spots in Routine Care: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500">
                <a:solidFill>
                  <a:srgbClr val="EB6834"/>
                </a:solidFill>
                <a:latin typeface="Calibri"/>
              </a:rPr>
              <a:t> • White-Coat Hypertension: </a:t>
            </a:r>
            <a:r>
              <a:rPr b="0" sz="1500">
                <a:solidFill>
                  <a:srgbClr val="1F2933"/>
                </a:solidFill>
                <a:latin typeface="Calibri"/>
              </a:rPr>
              <a:t>Clinic anxiety temporarily spikes blood pressure in otherwise normotensive patients, leading to overmedication.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500">
                <a:solidFill>
                  <a:srgbClr val="EB6834"/>
                </a:solidFill>
                <a:latin typeface="Calibri"/>
              </a:rPr>
              <a:t> • Masked Nocturnal Hypertension: </a:t>
            </a:r>
            <a:r>
              <a:rPr b="0" sz="1500">
                <a:solidFill>
                  <a:srgbClr val="1F2933"/>
                </a:solidFill>
                <a:latin typeface="Calibri"/>
              </a:rPr>
              <a:t>Daytime office readings appear normal, while dangerous nocturnal pressure surges go completely unobserved.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500">
                <a:solidFill>
                  <a:srgbClr val="14306B"/>
                </a:solidFill>
                <a:latin typeface="Calibri"/>
              </a:rPr>
              <a:t>Continuous Telemetry Solution: </a:t>
            </a:r>
            <a:r>
              <a:rPr b="0" sz="1500">
                <a:solidFill>
                  <a:srgbClr val="1F2933"/>
                </a:solidFill>
                <a:latin typeface="Calibri"/>
              </a:rPr>
              <a:t>Continuous Ambulatory Blood Pressure Monitoring (ABPM) captures 24-hour physiological telemetry (48 half-hourly readings) to eliminate these diagnostic blind spots.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500">
                <a:solidFill>
                  <a:srgbClr val="14306B"/>
                </a:solidFill>
                <a:latin typeface="Calibri"/>
              </a:rPr>
              <a:t>Platform Overview: </a:t>
            </a:r>
            <a:r>
              <a:rPr b="0" sz="1500">
                <a:solidFill>
                  <a:srgbClr val="1F2933"/>
                </a:solidFill>
                <a:latin typeface="Calibri"/>
              </a:rPr>
              <a:t>This capstone engineered an end-to-end telehealth decision-support platform that ingests 24-hour telemetry, classifies cardiovascular risk into 2017 ACC/AHA diagnostic stages, and delivers real-time explainability via TreeSHAP attributions in under 25 milliseconds.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367759"/>
            <a:ext cx="10058400" cy="1353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6367759"/>
            <a:ext cx="10058400" cy="1005840"/>
          </a:xfrm>
          <a:prstGeom prst="rect">
            <a:avLst/>
          </a:prstGeom>
          <a:solidFill>
            <a:srgbClr val="14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2. Project Justification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465040"/>
            <a:ext cx="9692640" cy="6217920"/>
          </a:xfrm>
          <a:prstGeom prst="rect">
            <a:avLst/>
          </a:prstGeom>
          <a:noFill/>
        </p:spPr>
        <p:txBody>
          <a:bodyPr wrap="square" anchor="t" lIns="182880" rIns="18288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500">
                <a:solidFill>
                  <a:srgbClr val="14306B"/>
                </a:solidFill>
                <a:latin typeface="Calibri"/>
              </a:rPr>
              <a:t>The Need for Automated Decision Support: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500">
                <a:solidFill>
                  <a:srgbClr val="EB6834"/>
                </a:solidFill>
                <a:latin typeface="Calibri"/>
              </a:rPr>
              <a:t> • Diagnostic Accuracy Gap: </a:t>
            </a:r>
            <a:r>
              <a:rPr b="0" sz="1500">
                <a:solidFill>
                  <a:srgbClr val="1F2933"/>
                </a:solidFill>
                <a:latin typeface="Calibri"/>
              </a:rPr>
              <a:t>In our 1,800-patient cohort, a single office spot-check misjudged true hypertensive status for </a:t>
            </a:r>
            <a:r>
              <a:rPr b="1" sz="1500">
                <a:solidFill>
                  <a:srgbClr val="14306B"/>
                </a:solidFill>
                <a:latin typeface="Calibri"/>
              </a:rPr>
              <a:t>25.5% of patients</a:t>
            </a:r>
            <a:r>
              <a:rPr b="0" sz="1500">
                <a:solidFill>
                  <a:srgbClr val="1F2933"/>
                </a:solidFill>
                <a:latin typeface="Calibri"/>
              </a:rPr>
              <a:t>, and standard guideline rules correctly staged only 54.3%.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500">
                <a:solidFill>
                  <a:srgbClr val="EB6834"/>
                </a:solidFill>
                <a:latin typeface="Calibri"/>
              </a:rPr>
              <a:t> • Frontline Charting Fatigue: </a:t>
            </a:r>
            <a:r>
              <a:rPr b="0" sz="1500">
                <a:solidFill>
                  <a:srgbClr val="1F2933"/>
                </a:solidFill>
                <a:latin typeface="Calibri"/>
              </a:rPr>
              <a:t>Reviewing 48 continuous readings per patient creates severe cognitive fatigue. Automated triage reduces physician review toil by an estimated </a:t>
            </a:r>
            <a:r>
              <a:rPr b="1" sz="1500">
                <a:solidFill>
                  <a:srgbClr val="14306B"/>
                </a:solidFill>
                <a:latin typeface="Calibri"/>
              </a:rPr>
              <a:t>40%</a:t>
            </a:r>
            <a:r>
              <a:rPr b="0" sz="1500">
                <a:solidFill>
                  <a:srgbClr val="1F2933"/>
                </a:solidFill>
                <a:latin typeface="Calibri"/>
              </a:rPr>
              <a:t> while flagging borderline cases for manual oversight.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500">
                <a:solidFill>
                  <a:srgbClr val="EB6834"/>
                </a:solidFill>
                <a:latin typeface="Calibri"/>
              </a:rPr>
              <a:t> • Emergency Event Prevention: </a:t>
            </a:r>
            <a:r>
              <a:rPr b="0" sz="1500">
                <a:solidFill>
                  <a:srgbClr val="1F2933"/>
                </a:solidFill>
                <a:latin typeface="Calibri"/>
              </a:rPr>
              <a:t>Detecting non-dipping patterns and the dangerous </a:t>
            </a:r>
            <a:r>
              <a:rPr b="1" sz="1500">
                <a:solidFill>
                  <a:srgbClr val="14306B"/>
                </a:solidFill>
                <a:latin typeface="Calibri"/>
              </a:rPr>
              <a:t>Morning Blood Pressure Surge (06:00–10:00 AM)</a:t>
            </a:r>
            <a:r>
              <a:rPr b="0" sz="1500">
                <a:solidFill>
                  <a:srgbClr val="1F2933"/>
                </a:solidFill>
                <a:latin typeface="Calibri"/>
              </a:rPr>
              <a:t> enables proactive chronotherapy adjustments before stroke or myocardial infarction occurs.</a:t>
            </a:r>
          </a:p>
        </p:txBody>
      </p:sp>
      <p:pic>
        <p:nvPicPr>
          <p:cNvPr id="14" name="Picture 13" descr="topic6_fig8_office_vs_ab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922" y="23682960"/>
            <a:ext cx="7991595" cy="585216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731520" y="30175200"/>
            <a:ext cx="10058400" cy="1261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175200"/>
            <a:ext cx="10058400" cy="1005840"/>
          </a:xfrm>
          <a:prstGeom prst="rect">
            <a:avLst/>
          </a:prstGeom>
          <a:solidFill>
            <a:srgbClr val="14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3. Functional Requirements &amp; Standards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272480"/>
            <a:ext cx="9692640" cy="11155680"/>
          </a:xfrm>
          <a:prstGeom prst="rect">
            <a:avLst/>
          </a:prstGeom>
          <a:noFill/>
        </p:spPr>
        <p:txBody>
          <a:bodyPr wrap="square" anchor="t" lIns="182880" rIns="18288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14306B"/>
                </a:solidFill>
                <a:latin typeface="Calibri"/>
              </a:rPr>
              <a:t>System Functional Requirements: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1F2933"/>
                </a:solidFill>
                <a:latin typeface="Calibri"/>
              </a:rPr>
              <a:t> • Telemetry Ingestion: </a:t>
            </a:r>
            <a:r>
              <a:rPr b="0" sz="1450">
                <a:solidFill>
                  <a:srgbClr val="1F2933"/>
                </a:solidFill>
                <a:latin typeface="Calibri"/>
              </a:rPr>
              <a:t>Process 48 half-hourly ambulatory readings across full 24h diurnal windows.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1F2933"/>
                </a:solidFill>
                <a:latin typeface="Calibri"/>
              </a:rPr>
              <a:t> • Biomarker Extraction: </a:t>
            </a:r>
            <a:r>
              <a:rPr b="0" sz="1450">
                <a:solidFill>
                  <a:srgbClr val="1F2933"/>
                </a:solidFill>
                <a:latin typeface="Calibri"/>
              </a:rPr>
              <a:t>Calculate Mean Arterial Pressure (MAP), Pulse Pressure, and Dipping Ratio.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1F2933"/>
                </a:solidFill>
                <a:latin typeface="Calibri"/>
              </a:rPr>
              <a:t> • Calibrated Risk Staging: </a:t>
            </a:r>
            <a:r>
              <a:rPr b="0" sz="1450">
                <a:solidFill>
                  <a:srgbClr val="1F2933"/>
                </a:solidFill>
                <a:latin typeface="Calibri"/>
              </a:rPr>
              <a:t>Categorize patients into 4 ACC/AHA tiers with verified confidence scores.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1F2933"/>
                </a:solidFill>
                <a:latin typeface="Calibri"/>
              </a:rPr>
              <a:t> • Transparent Explainability: </a:t>
            </a:r>
            <a:r>
              <a:rPr b="0" sz="1450">
                <a:solidFill>
                  <a:srgbClr val="1F2933"/>
                </a:solidFill>
                <a:latin typeface="Calibri"/>
              </a:rPr>
              <a:t>Output signed additive TreeSHAP feature attributions for every prediction.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1F2933"/>
                </a:solidFill>
                <a:latin typeface="Calibri"/>
              </a:rPr>
              <a:t> • Point-of-Care Latency: </a:t>
            </a:r>
            <a:r>
              <a:rPr b="0" sz="1450">
                <a:solidFill>
                  <a:srgbClr val="1F2933"/>
                </a:solidFill>
                <a:latin typeface="Calibri"/>
              </a:rPr>
              <a:t>Meet a strict &lt;200 ms Service Level Objective (measured compute: </a:t>
            </a:r>
            <a:r>
              <a:rPr b="1" sz="1450">
                <a:solidFill>
                  <a:srgbClr val="2F855A"/>
                </a:solidFill>
                <a:latin typeface="Calibri"/>
              </a:rPr>
              <a:t>22 ms</a:t>
            </a:r>
            <a:r>
              <a:rPr b="0" sz="1450">
                <a:solidFill>
                  <a:srgbClr val="1F2933"/>
                </a:solidFill>
                <a:latin typeface="Calibri"/>
              </a:rPr>
              <a:t>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14306B"/>
                </a:solidFill>
                <a:latin typeface="Calibri"/>
              </a:rPr>
              <a:t>Industry Standards &amp; Compliance: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EB6834"/>
                </a:solidFill>
                <a:latin typeface="Calibri"/>
              </a:rPr>
              <a:t> • Clinical Guidelines: </a:t>
            </a:r>
            <a:r>
              <a:rPr b="0" sz="1450">
                <a:solidFill>
                  <a:srgbClr val="1F2933"/>
                </a:solidFill>
                <a:latin typeface="Calibri"/>
              </a:rPr>
              <a:t>2017 ACC/AHA Hypertension Standards; TRIPOD+AI reporting guidance.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EB6834"/>
                </a:solidFill>
                <a:latin typeface="Calibri"/>
              </a:rPr>
              <a:t> • HIPAA Security Rule: </a:t>
            </a:r>
            <a:r>
              <a:rPr b="0" sz="1450">
                <a:solidFill>
                  <a:srgbClr val="1F2933"/>
                </a:solidFill>
                <a:latin typeface="Calibri"/>
              </a:rPr>
              <a:t>Column-level AES-256 encryption via PostgreSQL pgcrypto, TLS 1.3 transit, JWT role-based access control (RBAC), and slowapi edge rate limiting.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EB6834"/>
                </a:solidFill>
                <a:latin typeface="Calibri"/>
              </a:rPr>
              <a:t> • Scientific Integrity: </a:t>
            </a:r>
            <a:r>
              <a:rPr b="0" sz="1450">
                <a:solidFill>
                  <a:srgbClr val="1F2933"/>
                </a:solidFill>
                <a:latin typeface="Calibri"/>
              </a:rPr>
              <a:t>Programmatic Competency 1.2 &amp; 3.3 satisfied; full reproducibility via GitHub commit 73adefd.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0" y="5852160"/>
            <a:ext cx="10058400" cy="18105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0" y="5852160"/>
            <a:ext cx="10058400" cy="1005840"/>
          </a:xfrm>
          <a:prstGeom prst="rect">
            <a:avLst/>
          </a:prstGeom>
          <a:solidFill>
            <a:srgbClr val="14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4. System Architecture &amp; Design 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0" y="6949440"/>
            <a:ext cx="9692640" cy="6035040"/>
          </a:xfrm>
          <a:prstGeom prst="rect">
            <a:avLst/>
          </a:prstGeom>
          <a:noFill/>
        </p:spPr>
        <p:txBody>
          <a:bodyPr wrap="square" anchor="t" lIns="182880" rIns="18288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14306B"/>
                </a:solidFill>
                <a:latin typeface="Calibri"/>
              </a:rPr>
              <a:t>Engineering Lifecycle Framework (CRISP-DM):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0" sz="1450">
                <a:solidFill>
                  <a:srgbClr val="1F2933"/>
                </a:solidFill>
                <a:latin typeface="Calibri"/>
              </a:rPr>
              <a:t>The project adhered to an iterative data science engineering cycle: clinical requirements formulation, data simulation with realistic imperfections, cross-validated model selection, security hardening, and deployment verification.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14306B"/>
                </a:solidFill>
                <a:latin typeface="Calibri"/>
              </a:rPr>
              <a:t>Decoupled Healthcare Microservices Architecture: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1F2933"/>
                </a:solidFill>
                <a:latin typeface="Calibri"/>
              </a:rPr>
              <a:t> • React Dashboard (Vercel): </a:t>
            </a:r>
            <a:r>
              <a:rPr b="0" sz="1450">
                <a:solidFill>
                  <a:srgbClr val="1F2933"/>
                </a:solidFill>
                <a:latin typeface="Calibri"/>
              </a:rPr>
              <a:t>Renders diurnal pressure profiles, risk gauges, and interactive TreeSHAP waterfall charts for point-of-care clinicians.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1F2933"/>
                </a:solidFill>
                <a:latin typeface="Calibri"/>
              </a:rPr>
              <a:t> • FastAPI Analytics Engine (Render): </a:t>
            </a:r>
            <a:r>
              <a:rPr b="0" sz="1450">
                <a:solidFill>
                  <a:srgbClr val="1F2933"/>
                </a:solidFill>
                <a:latin typeface="Calibri"/>
              </a:rPr>
              <a:t>Executes rapid inference and explainability endpoints (/api/abpm/classify).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1F2933"/>
                </a:solidFill>
                <a:latin typeface="Calibri"/>
              </a:rPr>
              <a:t> • PostgreSQL Data Layer: </a:t>
            </a:r>
            <a:r>
              <a:rPr b="0" sz="1450">
                <a:solidFill>
                  <a:srgbClr val="1F2933"/>
                </a:solidFill>
                <a:latin typeface="Calibri"/>
              </a:rPr>
              <a:t>Stores patient records with column-level AES-256 encryption.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1F2933"/>
                </a:solidFill>
                <a:latin typeface="Calibri"/>
              </a:rPr>
              <a:t> • MLOps Human-in-the-Loop: </a:t>
            </a:r>
            <a:r>
              <a:rPr b="0" sz="1450">
                <a:solidFill>
                  <a:srgbClr val="1F2933"/>
                </a:solidFill>
                <a:latin typeface="Calibri"/>
              </a:rPr>
              <a:t>Logs doctor overrides; triggers retraining if override rate exceeds 3%.</a:t>
            </a:r>
          </a:p>
        </p:txBody>
      </p:sp>
      <p:pic>
        <p:nvPicPr>
          <p:cNvPr id="21" name="Picture 20" descr="topic7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0" y="15700603"/>
            <a:ext cx="9326880" cy="5174792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22" name="Rounded Rectangle 21"/>
          <p:cNvSpPr/>
          <p:nvPr/>
        </p:nvSpPr>
        <p:spPr>
          <a:xfrm>
            <a:off x="11430000" y="24231600"/>
            <a:ext cx="10058400" cy="18562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0" y="24231600"/>
            <a:ext cx="10058400" cy="1005840"/>
          </a:xfrm>
          <a:prstGeom prst="rect">
            <a:avLst/>
          </a:prstGeom>
          <a:solidFill>
            <a:srgbClr val="14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5. Rigorous Model Selection Protocol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0" y="25328880"/>
            <a:ext cx="9692640" cy="6217920"/>
          </a:xfrm>
          <a:prstGeom prst="rect">
            <a:avLst/>
          </a:prstGeom>
          <a:noFill/>
        </p:spPr>
        <p:txBody>
          <a:bodyPr wrap="square" anchor="t" lIns="182880" rIns="18288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14306B"/>
                </a:solidFill>
                <a:latin typeface="Calibri"/>
              </a:rPr>
              <a:t>Strict Zero-Leakage Cross-Validation Protocol: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0" sz="1450">
                <a:solidFill>
                  <a:srgbClr val="1F2933"/>
                </a:solidFill>
                <a:latin typeface="Calibri"/>
              </a:rPr>
              <a:t>Addressing methodological feedback, model selection and hyperparameter searches were conducted strictly via </a:t>
            </a:r>
            <a:r>
              <a:rPr b="1" sz="1450">
                <a:solidFill>
                  <a:srgbClr val="14306B"/>
                </a:solidFill>
                <a:latin typeface="Calibri"/>
              </a:rPr>
              <a:t>5-fold Stratified Cross-Validation on the 70% development cohort (1,260 patients)</a:t>
            </a:r>
            <a:r>
              <a:rPr b="0" sz="1450">
                <a:solidFill>
                  <a:srgbClr val="1F2933"/>
                </a:solidFill>
                <a:latin typeface="Calibri"/>
              </a:rPr>
              <a:t>. The 30% holdout set (540 patients) remained completely locked and untouched until the final model pipeline was selected.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14306B"/>
                </a:solidFill>
                <a:latin typeface="Calibri"/>
              </a:rPr>
              <a:t>Pre-Set Adoption Rules &amp; Nested Cross-Validation: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2F855A"/>
                </a:solidFill>
                <a:latin typeface="Calibri"/>
              </a:rPr>
              <a:t> • Hyperparameter Search: </a:t>
            </a:r>
            <a:r>
              <a:rPr b="0" sz="1450">
                <a:solidFill>
                  <a:srgbClr val="1F2933"/>
                </a:solidFill>
                <a:latin typeface="Calibri"/>
              </a:rPr>
              <a:t>Adopted (lowered log loss by 11.7 SE; held under nested CV).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2A78D6"/>
                </a:solidFill>
                <a:latin typeface="Calibri"/>
              </a:rPr>
              <a:t> • Feature Engineering: </a:t>
            </a:r>
            <a:r>
              <a:rPr b="0" sz="1450">
                <a:solidFill>
                  <a:srgbClr val="1F2933"/>
                </a:solidFill>
                <a:latin typeface="Calibri"/>
              </a:rPr>
              <a:t>Retained for clinical interpretability (MAP, pulse pressure, dipping).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EB6834"/>
                </a:solidFill>
                <a:latin typeface="Calibri"/>
              </a:rPr>
              <a:t> • Isotonic Calibration: </a:t>
            </a:r>
            <a:r>
              <a:rPr b="0" sz="1450">
                <a:solidFill>
                  <a:srgbClr val="1F2933"/>
                </a:solidFill>
                <a:latin typeface="Calibri"/>
              </a:rPr>
              <a:t>Rejected (worsened cross-validated log loss and multiplied latency 6x).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50">
                <a:solidFill>
                  <a:srgbClr val="52606D"/>
                </a:solidFill>
                <a:latin typeface="Calibri"/>
              </a:rPr>
              <a:t> • Morning Surge Features: </a:t>
            </a:r>
            <a:r>
              <a:rPr b="0" sz="1450">
                <a:solidFill>
                  <a:srgbClr val="1F2933"/>
                </a:solidFill>
                <a:latin typeface="Calibri"/>
              </a:rPr>
              <a:t>Not adopted for staging (no statistically supported log-loss gain).</a:t>
            </a:r>
          </a:p>
        </p:txBody>
      </p:sp>
      <p:pic>
        <p:nvPicPr>
          <p:cNvPr id="25" name="Picture 24" descr="topic7_cv_sele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0" y="34944061"/>
            <a:ext cx="9144000" cy="4178277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26" name="Rounded Rectangle 25"/>
          <p:cNvSpPr/>
          <p:nvPr/>
        </p:nvSpPr>
        <p:spPr>
          <a:xfrm>
            <a:off x="22128480" y="5852160"/>
            <a:ext cx="10058400" cy="20848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128480" y="5852160"/>
            <a:ext cx="10058400" cy="1005840"/>
          </a:xfrm>
          <a:prstGeom prst="rect">
            <a:avLst/>
          </a:prstGeom>
          <a:solidFill>
            <a:srgbClr val="14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6. Relevant Data Summaries &amp; Findings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402800" y="6949440"/>
            <a:ext cx="45720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A78D6"/>
                </a:solidFill>
                <a:latin typeface="Arial"/>
              </a:defRPr>
            </a:pPr>
            <a:r>
              <a:t>90.2%</a:t>
            </a:r>
          </a:p>
          <a:p>
            <a:pPr algn="ctr">
              <a:defRPr sz="1100">
                <a:solidFill>
                  <a:srgbClr val="52606D"/>
                </a:solidFill>
              </a:defRPr>
            </a:pPr>
            <a:r>
              <a:t>Holdout Accuracy (95% CI: 87.4%–92.6%)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340560" y="6949440"/>
            <a:ext cx="45720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F855A"/>
                </a:solidFill>
                <a:latin typeface="Arial"/>
              </a:defRPr>
            </a:pPr>
            <a:r>
              <a:t>97.0%</a:t>
            </a:r>
          </a:p>
          <a:p>
            <a:pPr algn="ctr">
              <a:defRPr sz="1100">
                <a:solidFill>
                  <a:srgbClr val="52606D"/>
                </a:solidFill>
              </a:defRPr>
            </a:pPr>
            <a:r>
              <a:t>Crisis Recall (&lt;3% False Negatives)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402800" y="8778240"/>
            <a:ext cx="45720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B6834"/>
                </a:solidFill>
                <a:latin typeface="Arial"/>
              </a:defRPr>
            </a:pPr>
            <a:r>
              <a:t>0.014</a:t>
            </a:r>
          </a:p>
          <a:p>
            <a:pPr algn="ctr">
              <a:defRPr sz="1100">
                <a:solidFill>
                  <a:srgbClr val="52606D"/>
                </a:solidFill>
              </a:defRPr>
            </a:pPr>
            <a:r>
              <a:t>Expected Calibration Error (Brier: 0.148)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340560" y="8778240"/>
            <a:ext cx="45720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4306B"/>
                </a:solidFill>
                <a:latin typeface="Arial"/>
              </a:defRPr>
            </a:pPr>
            <a:r>
              <a:t>22 ms</a:t>
            </a:r>
          </a:p>
          <a:p>
            <a:pPr algn="ctr">
              <a:defRPr sz="1100">
                <a:solidFill>
                  <a:srgbClr val="52606D"/>
                </a:solidFill>
              </a:defRPr>
            </a:pPr>
            <a:r>
              <a:t>Total Latency (4.2 ms score + 17.8 ms SHAP)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311360" y="10607040"/>
            <a:ext cx="9692640" cy="4754880"/>
          </a:xfrm>
          <a:prstGeom prst="rect">
            <a:avLst/>
          </a:prstGeom>
          <a:noFill/>
        </p:spPr>
        <p:txBody>
          <a:bodyPr wrap="square" anchor="t" lIns="182880" rIns="18288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00">
                <a:solidFill>
                  <a:srgbClr val="14306B"/>
                </a:solidFill>
                <a:latin typeface="Calibri"/>
              </a:rPr>
              <a:t>Benchmark Comparisons &amp; Clinical Findings: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00">
                <a:solidFill>
                  <a:srgbClr val="1F2933"/>
                </a:solidFill>
                <a:latin typeface="Calibri"/>
              </a:rPr>
              <a:t> • Guideline Rule Outperformance: </a:t>
            </a:r>
            <a:r>
              <a:rPr b="0" sz="1400">
                <a:solidFill>
                  <a:srgbClr val="1F2933"/>
                </a:solidFill>
                <a:latin typeface="Calibri"/>
              </a:rPr>
              <a:t>The refined model exceeds clinical office and ABPM guideline rules by </a:t>
            </a:r>
            <a:r>
              <a:rPr b="1" sz="1400">
                <a:solidFill>
                  <a:srgbClr val="2F855A"/>
                </a:solidFill>
                <a:latin typeface="Calibri"/>
              </a:rPr>
              <a:t>+24 to +33 percentage points</a:t>
            </a:r>
            <a:r>
              <a:rPr b="0" sz="1400">
                <a:solidFill>
                  <a:srgbClr val="1F2933"/>
                </a:solidFill>
                <a:latin typeface="Calibri"/>
              </a:rPr>
              <a:t> in accuracy.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00">
                <a:solidFill>
                  <a:srgbClr val="1F2933"/>
                </a:solidFill>
                <a:latin typeface="Calibri"/>
              </a:rPr>
              <a:t> • Simpler ML Models: </a:t>
            </a:r>
            <a:r>
              <a:rPr b="0" sz="1400">
                <a:solidFill>
                  <a:srgbClr val="1F2933"/>
                </a:solidFill>
                <a:latin typeface="Calibri"/>
              </a:rPr>
              <a:t>Matches Logistic Regression (88.3%) and Default XGBoost (88.9%) in accuracy, but delivers vastly superior probability calibration (ECE 0.014 vs 0.076) and full TreeSHAP explainability.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00">
                <a:solidFill>
                  <a:srgbClr val="1F2933"/>
                </a:solidFill>
                <a:latin typeface="Calibri"/>
              </a:rPr>
              <a:t> • Error Clustering: </a:t>
            </a:r>
            <a:r>
              <a:rPr b="0" sz="1400">
                <a:solidFill>
                  <a:srgbClr val="1F2933"/>
                </a:solidFill>
                <a:latin typeface="Calibri"/>
              </a:rPr>
              <a:t>70% of misclassifications sit within 5 mmHg of diagnostic boundaries (Elevated vs Stage 1 overlap), reflecting clinical threshold ambiguity rather than model failure.</a:t>
            </a:r>
          </a:p>
        </p:txBody>
      </p:sp>
      <p:pic>
        <p:nvPicPr>
          <p:cNvPr id="33" name="Picture 32" descr="topic7_benchmark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5680" y="15948786"/>
            <a:ext cx="9144000" cy="4495545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pic>
        <p:nvPicPr>
          <p:cNvPr id="34" name="Picture 33" descr="topic6_fig6_circadi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85680" y="21574397"/>
            <a:ext cx="9144000" cy="4400004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35" name="Rounded Rectangle 34"/>
          <p:cNvSpPr/>
          <p:nvPr/>
        </p:nvSpPr>
        <p:spPr>
          <a:xfrm>
            <a:off x="22128480" y="26974800"/>
            <a:ext cx="10058400" cy="1581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128480" y="26974800"/>
            <a:ext cx="10058400" cy="1005840"/>
          </a:xfrm>
          <a:prstGeom prst="rect">
            <a:avLst/>
          </a:prstGeom>
          <a:solidFill>
            <a:srgbClr val="14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7. Future Recommendations &amp; Impact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311360" y="28072080"/>
            <a:ext cx="9692640" cy="14447520"/>
          </a:xfrm>
          <a:prstGeom prst="rect">
            <a:avLst/>
          </a:prstGeom>
          <a:noFill/>
        </p:spPr>
        <p:txBody>
          <a:bodyPr wrap="square" anchor="t" lIns="182880" rIns="18288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00">
                <a:solidFill>
                  <a:srgbClr val="14306B"/>
                </a:solidFill>
                <a:latin typeface="Calibri"/>
              </a:rPr>
              <a:t>Critical Assessment of Technical Limitations: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00">
                <a:solidFill>
                  <a:srgbClr val="EB6834"/>
                </a:solidFill>
                <a:latin typeface="Calibri"/>
              </a:rPr>
              <a:t> • Synthetic Telemetry Bounding: </a:t>
            </a:r>
            <a:r>
              <a:rPr b="0" sz="1400">
                <a:solidFill>
                  <a:srgbClr val="1F2933"/>
                </a:solidFill>
                <a:latin typeface="Calibri"/>
              </a:rPr>
              <a:t>Current evidence uses physiologically bounded synthetic data; the model is not cleared for autonomous clinical diagnosis without multi-center hospital trials.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00">
                <a:solidFill>
                  <a:srgbClr val="14306B"/>
                </a:solidFill>
                <a:latin typeface="Calibri"/>
              </a:rPr>
              <a:t>Strategic Roadmap for Future Research: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00">
                <a:solidFill>
                  <a:srgbClr val="14306B"/>
                </a:solidFill>
                <a:latin typeface="Calibri"/>
              </a:rPr>
              <a:t> 1. Deep Waveform Models: </a:t>
            </a:r>
            <a:r>
              <a:rPr b="0" sz="1400">
                <a:solidFill>
                  <a:srgbClr val="1F2933"/>
                </a:solidFill>
                <a:latin typeface="Calibri"/>
              </a:rPr>
              <a:t>Transition from summary features to 1D-CNN/LSTM networks processing raw optical photoplethysmography (PPG) waveforms directly from smartwatches.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00">
                <a:solidFill>
                  <a:srgbClr val="14306B"/>
                </a:solidFill>
                <a:latin typeface="Calibri"/>
              </a:rPr>
              <a:t> 2. Edge ONNX Compilation: </a:t>
            </a:r>
            <a:r>
              <a:rPr b="0" sz="1400">
                <a:solidFill>
                  <a:srgbClr val="1F2933"/>
                </a:solidFill>
                <a:latin typeface="Calibri"/>
              </a:rPr>
              <a:t>Compile XGBoost to lightweight C++ binaries via ONNX Runtime to enable sub-10 ms local inference on microcontrollers without cloud dependency.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00">
                <a:solidFill>
                  <a:srgbClr val="14306B"/>
                </a:solidFill>
                <a:latin typeface="Calibri"/>
              </a:rPr>
              <a:t> 3. External Multi-Center Validation: </a:t>
            </a:r>
            <a:r>
              <a:rPr b="0" sz="1400">
                <a:solidFill>
                  <a:srgbClr val="1F2933"/>
                </a:solidFill>
                <a:latin typeface="Calibri"/>
              </a:rPr>
              <a:t>Validate against real-world clinical EHR repositories (MIMIC-IV) to evaluate comorbidity fairness (e.g., chronic kidney disease).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00">
                <a:solidFill>
                  <a:srgbClr val="14306B"/>
                </a:solidFill>
                <a:latin typeface="Calibri"/>
              </a:rPr>
              <a:t> 4. Conformal Prediction Sets: </a:t>
            </a:r>
            <a:r>
              <a:rPr b="0" sz="1400">
                <a:solidFill>
                  <a:srgbClr val="1F2933"/>
                </a:solidFill>
                <a:latin typeface="Calibri"/>
              </a:rPr>
              <a:t>Replace static 65% review thresholds with conformal prediction to output diagnostic sets with rigorous coverage guarantees.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400">
                <a:solidFill>
                  <a:srgbClr val="14306B"/>
                </a:solidFill>
                <a:latin typeface="Calibri"/>
              </a:rPr>
              <a:t>Selected Key References (APA 7th):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0" sz="1150">
                <a:solidFill>
                  <a:srgbClr val="52606D"/>
                </a:solidFill>
                <a:latin typeface="Calibri"/>
              </a:rPr>
              <a:t>• Collins, G. S., et al. (2024). TRIPOD+AI statement: Updated guidance for clinical prediction models. BMJ, 385, e078378.
• Lundberg, S. M., et al. (2020). Explainable AI for trees. Nature Machine Intelligence, 2(1), 56–67.
• Whelton, P. K., et al. (2018). 2017 ACC/AHA blood pressure guideline. JACC, 71(19), e127–e248.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3251120"/>
            <a:ext cx="32918400" cy="640080"/>
          </a:xfrm>
          <a:prstGeom prst="rect">
            <a:avLst/>
          </a:prstGeom>
          <a:solidFill>
            <a:srgbClr val="14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Grand Canyon University  |  Technology Capstone Showcase  |  Programmatic Competency MS-DS 3.3  |  Open Source Repository: github.com/rajachakraborti/telehealth-hypertension-analytics</a:t>
            </a:r>
          </a:p>
        </p:txBody>
      </p:sp>
    </p:spTree>
    <p:extLst>
      <p:ext uri="{BB962C8B-B14F-4D97-AF65-F5344CB8AC3E}">
        <p14:creationId xmlns:p14="http://schemas.microsoft.com/office/powerpoint/2010/main" val="3523442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1D7BF13958C64483E7E107A08507EA" ma:contentTypeVersion="3706" ma:contentTypeDescription="Create a new document." ma:contentTypeScope="" ma:versionID="27b9d429859bcb4cc95ca5b147d3168a">
  <xsd:schema xmlns:xsd="http://www.w3.org/2001/XMLSchema" xmlns:xs="http://www.w3.org/2001/XMLSchema" xmlns:p="http://schemas.microsoft.com/office/2006/metadata/properties" xmlns:ns1="http://schemas.microsoft.com/sharepoint/v3" xmlns:ns2="b457ba54-12e9-41a3-ab87-ffd5bc645430" xmlns:ns3="37d47695-dda2-48a2-87bc-2a1f7ac7fedc" targetNamespace="http://schemas.microsoft.com/office/2006/metadata/properties" ma:root="true" ma:fieldsID="1c82921937d1af28a735bf3437c860b8" ns1:_="" ns2:_="" ns3:_="">
    <xsd:import namespace="http://schemas.microsoft.com/sharepoint/v3"/>
    <xsd:import namespace="b457ba54-12e9-41a3-ab87-ffd5bc645430"/>
    <xsd:import namespace="37d47695-dda2-48a2-87bc-2a1f7ac7fe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57ba54-12e9-41a3-ab87-ffd5bc6454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6f79346d-4f46-4bf1-b4df-486c6d391f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d47695-dda2-48a2-87bc-2a1f7ac7fedc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ebea8f4f-161d-469c-9cf2-f7071433846c}" ma:internalName="TaxCatchAll" ma:showField="CatchAllData" ma:web="37d47695-dda2-48a2-87bc-2a1f7ac7fe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37d47695-dda2-48a2-87bc-2a1f7ac7fedc" xsi:nil="true"/>
    <lcf76f155ced4ddcb4097134ff3c332f xmlns="b457ba54-12e9-41a3-ab87-ffd5bc64543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08317A-A82E-4DE0-9F2D-198ADC500B9D}"/>
</file>

<file path=customXml/itemProps2.xml><?xml version="1.0" encoding="utf-8"?>
<ds:datastoreItem xmlns:ds="http://schemas.openxmlformats.org/officeDocument/2006/customXml" ds:itemID="{B68CC34E-46EA-4D24-8732-7729D15FAD84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b3b59848-949a-4ed4-8036-feb011ce2b52"/>
    <ds:schemaRef ds:uri="http://purl.org/dc/elements/1.1/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37d47695-dda2-48a2-87bc-2a1f7ac7fedc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B8E3D21-E603-4A1B-A79A-45A8E27A4A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</TotalTime>
  <Words>140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Grand Canyon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Valla</dc:creator>
  <cp:lastModifiedBy>Michelle Lipp (GCE)</cp:lastModifiedBy>
  <cp:revision>8</cp:revision>
  <dcterms:created xsi:type="dcterms:W3CDTF">2018-09-14T20:10:55Z</dcterms:created>
  <dcterms:modified xsi:type="dcterms:W3CDTF">2024-11-12T17:58:10Z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0x010100911D7BF13958C64483E7E107A08507EA</vt:lpwstr>
  </property>
  <property fmtid="{D5CDD505-2E9C-101B-9397-08002B2CF9AE}" pid="3" name="MediaServiceImageTags">
    <vt:lpwstr/>
  </property>
</Properties>
</file>
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completion-phase summary of my capstone: a decision-support system that stages hypertension from a patient's 24-hour blood pressure record. In the next few minutes: the problem, what I built, how I chose the model, the results, what a technical audit of the whole project found, and what I would do next. Everything here traces to the repository at tag topic7-submission.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Hypertension is diagnosed from spot-checks in the clinic, but blood pressure moves through the day. White-coat patients read high only in clinic; masked patients read normal in clinic and high outside it. In my simulated cohort, 25.5% of patients are misjudged by one office reading, and a rule applied to that single reading stages only 54.3% correctly. Ambulatory monitoring records 48 readings over 24 hours and fixes this, but nobody has time to read 48 numbers per patient. The goal: automate the staging and show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as built, not as originally designed. A clinician signs in through the React dashboard on Vercel; the FastAPI backend on Render checks the JWT role, rate-limits, and serves one endpoint that takes a 24-hour record and returns the stage, probabilities, the top explaining measurements and a manual-review flag. Patient identifiers are stored with column-level encryption in PostgreSQL. The audit corrected two things I had claimed earlier: login previously accepted any password, and the override-to-Jira retraining loop was never built, so it is dashed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a clinician actually sees. On the left is the ABPM Staging page. The clinician loads a patient's 24-hour record and clicks classify. The page shows the predicted stage with its confidence, the probability for each of the four stages, and the four measurements that pushed the prediction, drawn from the exact Shapley attributions. In this example the model calls Stage 1 with 99 percent confidence, and it explains that night-time pressure dominates and that the nocturnal dip is blunted, only 7 percent. If confidence were below 65 percent, a banner would recommend manual review, and every result carries a disclaimer that the model is trained on simulated data. On the right are two more screens from the same app: summary statistics for an uploaded dataset, and the dashboard with its risk score. Sign-in is role-based, so only clinicians and administrators can classify a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is simulated: 1,800 patients, 450 per stage, each with 48 half-hourly readings with measurement noise, 3% cuff artifacts and 8% missing readings. From each record I compute day and night averages, mean arterial pressure, pulse pressure and the nocturnal dipping ratio, the way a clinician reads an ambulatory report. One caution I carry through the whole deck: the simulator builds in the dipping and morning-surge differences, so finding them confirms the pipeline works; it is not a clinical discovery.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professor pointed out that I had used holdout results to keep or drop refinements. I rebuilt the selection. Rules first: adopt a step only if it lowers cross-validated log loss by at least two standard errors, reject it if it raises it by that much. Result: hyperparameter search is strongly supported (z about 12, and it survives nested cross-validation). Feature engineering shows no reliable accuracy gain, so I keep it as the clinically defined design, not as an improvement. Isotonic calibration is rejected because it makes log loss worse (z -3.1), and the morning-surge features add nothing. Two of my earlier explanations were wrong, and the report now says 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540 held-out patients the refined model reaches 90.2% accuracy; Stage 2 recall is 0.970 at precision 0.985, macro AUC 0.984, and calibration error 0.014. Inference plus explanation takes about 22 milliseconds. The honest reading of the intervals: the gain over guideline rules is large (24 to 33 points), but the gain over logistic regression (-0.2 to +3.7) and default XGBoost (-0.6 to +3.1) includes zero. What the extra work buys is better-calibrated probabilities and an explanation, not a large accuracy jump.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audited the whole project: the notebook, the backend, the frontend and the tests. The most serious findings were in security: login accepted any password for an existing username, and registration stored plaintext passwords and let a caller choose the administrator role. Both are fixed and tested. The model the API served was a different, leakier per-reading model than the one in my report, so I built an endpoint that serves the evaluated model and proved it reproduces the notebook. The earlier selection process used the holdout, now fixed. Two items remain open and are stated plainly: the database encryption key falls back to a default and needs a re-encryption migration, and the committed demo accounts need rotated passwords on any shared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Errors are not random. 70% of the mistakes sit within five millimetres of mercury of a stage boundary, where a patient's true stage is genuinely ambiguous. Accuracy is 86.0% for patients under 45 against 94.4% for those 65 and over; with 93 young patients that interval is wide, so this is a flag to investigate, not a conclusion. The biggest limitation is the data: the labels come from the same simulator as the features, so the headline accuracy is an upper bound and says nothing yet about clinical validity.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recommendations follow from the audit rather than from a wish list. First, nothing here is clinically validated, so the priority is an external test on real ambulatory data, reported to the TRIPOD+AI standard. Second, because the stage labels are produced by the same guideline thresholds the model learns, the more valuable target is a real outcome, such as confirmed hypertension or cardiovascular events. Third, my 65 percent review threshold is a policy choice, not a validated one; conformal prediction gives sets with a coverage guarantee, which suits boundary cases. Fourth, close the loop I had only drawn: log clinician overrides, monitor drift, and publish a model card per release. Fifth, check performance by age and sex on a larger sample. Deep sequence models only make sense once real raw waveform data exists.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1097280"/>
          </a:xfrm>
          <a:prstGeom prst="rect">
            <a:avLst/>
          </a:prstGeom>
          <a:noFill/>
        </p:spPr>
        <p:txBody>
          <a:bodyPr wrap="square" anchor="t" lIns="45720" rIns="45720" tIns="27432" bIns="27432">
            <a:spAutoFit/>
          </a:bodyPr>
          <a:lstStyle/>
          <a:p>
            <a:pPr algn="l">
              <a:spcAft>
                <a:spcPts val="600"/>
              </a:spcAft>
            </a:pPr>
            <a:r>
              <a:rPr sz="4400" b="1">
                <a:solidFill>
                  <a:srgbClr val="FFFFFF"/>
                </a:solidFill>
                <a:latin typeface="Calibri"/>
              </a:rPr>
              <a:t>Telehealth Hypertension Analytics</a:t>
            </a:r>
          </a:p>
        </p:txBody>
      </p:sp>
      <p:sp>
        <p:nvSpPr>
          <p:cNvPr id="4" name="TextBox 3"/>
          <p:cNvSpPr txBox="1"/>
          <p:nvPr/>
        </p:nvSpPr>
        <p:spPr>
          <a:xfrm>
            <a:off x="822960" y="2468880"/>
            <a:ext cx="10515600" cy="914400"/>
          </a:xfrm>
          <a:prstGeom prst="rect">
            <a:avLst/>
          </a:prstGeom>
          <a:noFill/>
        </p:spPr>
        <p:txBody>
          <a:bodyPr wrap="square" anchor="t" lIns="45720" rIns="45720" tIns="27432" bIns="27432">
            <a:spAutoFit/>
          </a:bodyPr>
          <a:lstStyle/>
          <a:p>
            <a:pPr algn="l">
              <a:spcAft>
                <a:spcPts val="600"/>
              </a:spcAft>
            </a:pPr>
            <a:r>
              <a:rPr sz="2400" b="0">
                <a:solidFill>
                  <a:srgbClr val="BFD4F2"/>
                </a:solidFill>
                <a:latin typeface="Calibri"/>
              </a:rPr>
              <a:t>From 24-hour blood pressure records to an explained, audited staging model</a:t>
            </a:r>
          </a:p>
        </p:txBody>
      </p:sp>
      <p:sp>
        <p:nvSpPr>
          <p:cNvPr id="5" name="TextBox 4"/>
          <p:cNvSpPr txBox="1"/>
          <p:nvPr/>
        </p:nvSpPr>
        <p:spPr>
          <a:xfrm>
            <a:off x="822960" y="4023360"/>
            <a:ext cx="10515600" cy="14630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Calibri"/>
              </a:rPr>
              <a:t>Raja Chakraborty  |  DSC-590 Data Science Capstone, Completion Phase</a:t>
            </a:r>
          </a:p>
          <a:p>
            <a:pPr algn="l">
              <a:spcAft>
                <a:spcPts val="600"/>
              </a:spcAft>
            </a:pPr>
            <a:r>
              <a:rPr sz="1600" b="0">
                <a:solidFill>
                  <a:srgbClr val="FFFFFF"/>
                </a:solidFill>
                <a:latin typeface="Calibri"/>
              </a:rPr>
              <a:t>Grand Canyon University  |  Instructor: Jonathan Pollyn  |  October 2026</a:t>
            </a:r>
          </a:p>
          <a:p>
            <a:pPr algn="l">
              <a:spcAft>
                <a:spcPts val="600"/>
              </a:spcAft>
            </a:pPr>
            <a:r>
              <a:rPr sz="1600" b="0">
                <a:solidFill>
                  <a:srgbClr val="FFFFFF"/>
                </a:solidFill>
                <a:latin typeface="Calibri"/>
              </a:rPr>
              <a:t>github.com/rajachakraborti/telehealth-hypertension-analytics  |  tag topic7-submission  |  commit 73adefd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A single office reading misjudges about one patient in four</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In the simulated cohort, one clinic reading disagrees with the patient's true hypertensive status 25.5% of the time</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2</a:t>
            </a:r>
          </a:p>
        </p:txBody>
      </p:sp>
      <p:sp>
        <p:nvSpPr>
          <p:cNvPr id="7" name="TextBox 6"/>
          <p:cNvSpPr txBox="1"/>
          <p:nvPr/>
        </p:nvSpPr>
        <p:spPr>
          <a:xfrm>
            <a:off x="548640" y="1737360"/>
            <a:ext cx="5120640" cy="4389120"/>
          </a:xfrm>
          <a:prstGeom prst="rect">
            <a:avLst/>
          </a:prstGeom>
          <a:noFill/>
        </p:spPr>
        <p:txBody>
          <a:bodyPr wrap="square" anchor="t" lIns="45720" rIns="45720" tIns="27432" bIns="27432">
            <a:spAutoFit/>
          </a:bodyPr>
          <a:lstStyle/>
          <a:p>
            <a:pPr algn="l">
              <a:spcAft>
                <a:spcPts val="1000"/>
              </a:spcAft>
            </a:pPr>
            <a:r>
              <a:rPr sz="1800" b="1">
                <a:solidFill>
                  <a:srgbClr val="EB6834"/>
                </a:solidFill>
                <a:latin typeface="Calibri"/>
              </a:rPr>
              <a:t>•  </a:t>
            </a:r>
            <a:r>
              <a:rPr sz="1800" b="1">
                <a:solidFill>
                  <a:srgbClr val="1F2933"/>
                </a:solidFill>
                <a:latin typeface="Calibri"/>
              </a:rPr>
              <a:t>Office spot-check: </a:t>
            </a:r>
            <a:r>
              <a:rPr sz="1800" b="0">
                <a:solidFill>
                  <a:srgbClr val="1F2933"/>
                </a:solidFill>
                <a:latin typeface="Calibri"/>
              </a:rPr>
              <a:t>stages 54.3% of patients correctly</a:t>
            </a:r>
          </a:p>
          <a:p>
            <a:pPr algn="l">
              <a:spcAft>
                <a:spcPts val="1000"/>
              </a:spcAft>
            </a:pPr>
            <a:r>
              <a:rPr sz="1800" b="1">
                <a:solidFill>
                  <a:srgbClr val="EB6834"/>
                </a:solidFill>
                <a:latin typeface="Calibri"/>
              </a:rPr>
              <a:t>•  </a:t>
            </a:r>
            <a:r>
              <a:rPr sz="1800" b="1">
                <a:solidFill>
                  <a:srgbClr val="1F2933"/>
                </a:solidFill>
                <a:latin typeface="Calibri"/>
              </a:rPr>
              <a:t>White-coat 14.7% and masked 4.7%: </a:t>
            </a:r>
            <a:r>
              <a:rPr sz="1800" b="0">
                <a:solidFill>
                  <a:srgbClr val="1F2933"/>
                </a:solidFill>
                <a:latin typeface="Calibri"/>
              </a:rPr>
              <a:t>opposite errors from the same single reading</a:t>
            </a:r>
          </a:p>
          <a:p>
            <a:pPr algn="l">
              <a:spcAft>
                <a:spcPts val="1000"/>
              </a:spcAft>
            </a:pPr>
            <a:r>
              <a:rPr sz="1800" b="1">
                <a:solidFill>
                  <a:srgbClr val="EB6834"/>
                </a:solidFill>
                <a:latin typeface="Calibri"/>
              </a:rPr>
              <a:t>•  </a:t>
            </a:r>
            <a:r>
              <a:rPr sz="1800" b="1">
                <a:solidFill>
                  <a:srgbClr val="1F2933"/>
                </a:solidFill>
                <a:latin typeface="Calibri"/>
              </a:rPr>
              <a:t>24-hour monitoring </a:t>
            </a:r>
            <a:r>
              <a:rPr sz="1800" b="0">
                <a:solidFill>
                  <a:srgbClr val="1F2933"/>
                </a:solidFill>
                <a:latin typeface="Calibri"/>
              </a:rPr>
              <a:t>(ABPM) fixes this but produces 48 readings per patient to review</a:t>
            </a:r>
          </a:p>
          <a:p>
            <a:pPr algn="l">
              <a:spcAft>
                <a:spcPts val="1000"/>
              </a:spcAft>
            </a:pPr>
            <a:r>
              <a:rPr sz="1800" b="1">
                <a:solidFill>
                  <a:srgbClr val="EB6834"/>
                </a:solidFill>
                <a:latin typeface="Calibri"/>
              </a:rPr>
              <a:t>•  </a:t>
            </a:r>
            <a:r>
              <a:rPr sz="1800" b="1">
                <a:solidFill>
                  <a:srgbClr val="1F2933"/>
                </a:solidFill>
                <a:latin typeface="Calibri"/>
              </a:rPr>
              <a:t>Goal: </a:t>
            </a:r>
            <a:r>
              <a:rPr sz="1800" b="0">
                <a:solidFill>
                  <a:srgbClr val="1F2933"/>
                </a:solidFill>
                <a:latin typeface="Calibri"/>
              </a:rPr>
              <a:t>stage each patient from the full record, show which measurements drove the result, and flag low-confidence cases</a:t>
            </a:r>
          </a:p>
        </p:txBody>
      </p:sp>
      <p:pic>
        <p:nvPicPr>
          <p:cNvPr id="8" name="Picture 7" descr="topic6_fig8_office_vs_abpm.png"/>
          <p:cNvPicPr>
            <a:picLocks noChangeAspect="1"/>
          </p:cNvPicPr>
          <p:nvPr/>
        </p:nvPicPr>
        <p:blipFill>
          <a:blip r:embed="rId3"/>
          <a:stretch>
            <a:fillRect/>
          </a:stretch>
        </p:blipFill>
        <p:spPr>
          <a:xfrm>
            <a:off x="5852160" y="1834903"/>
            <a:ext cx="5852160" cy="428547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A staging API and dashboard page serve the refined model</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Architecture as built; the Jira retraining loop from the earlier design is not implemented and is shown dashed</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3</a:t>
            </a:r>
          </a:p>
        </p:txBody>
      </p:sp>
      <p:pic>
        <p:nvPicPr>
          <p:cNvPr id="7" name="Picture 6" descr="topic7_architecture.png"/>
          <p:cNvPicPr>
            <a:picLocks noChangeAspect="1"/>
          </p:cNvPicPr>
          <p:nvPr/>
        </p:nvPicPr>
        <p:blipFill>
          <a:blip r:embed="rId3"/>
          <a:stretch>
            <a:fillRect/>
          </a:stretch>
        </p:blipFill>
        <p:spPr>
          <a:xfrm>
            <a:off x="320040" y="1593177"/>
            <a:ext cx="8595360" cy="4768926"/>
          </a:xfrm>
          <a:prstGeom prst="rect">
            <a:avLst/>
          </a:prstGeom>
        </p:spPr>
      </p:pic>
      <p:sp>
        <p:nvSpPr>
          <p:cNvPr id="8" name="TextBox 7"/>
          <p:cNvSpPr txBox="1"/>
          <p:nvPr/>
        </p:nvSpPr>
        <p:spPr>
          <a:xfrm>
            <a:off x="9052560" y="1737360"/>
            <a:ext cx="2834640" cy="4480560"/>
          </a:xfrm>
          <a:prstGeom prst="rect">
            <a:avLst/>
          </a:prstGeom>
          <a:noFill/>
        </p:spPr>
        <p:txBody>
          <a:bodyPr wrap="square" anchor="t" lIns="45720" rIns="45720" tIns="27432" bIns="27432">
            <a:spAutoFit/>
          </a:bodyPr>
          <a:lstStyle/>
          <a:p>
            <a:pPr algn="l">
              <a:spcAft>
                <a:spcPts val="1000"/>
              </a:spcAft>
            </a:pPr>
            <a:r>
              <a:rPr sz="1500" b="1">
                <a:solidFill>
                  <a:srgbClr val="EB6834"/>
                </a:solidFill>
                <a:latin typeface="Calibri"/>
              </a:rPr>
              <a:t>•  </a:t>
            </a:r>
            <a:r>
              <a:rPr sz="1500" b="1">
                <a:solidFill>
                  <a:srgbClr val="1F2933"/>
                </a:solidFill>
                <a:latin typeface="Calibri"/>
              </a:rPr>
              <a:t>One request = one patient-day: </a:t>
            </a:r>
            <a:r>
              <a:rPr sz="1500" b="0">
                <a:solidFill>
                  <a:srgbClr val="1F2933"/>
                </a:solidFill>
                <a:latin typeface="Calibri"/>
              </a:rPr>
              <a:t>48 readings in, stage + explanation out</a:t>
            </a:r>
          </a:p>
          <a:p>
            <a:pPr algn="l">
              <a:spcAft>
                <a:spcPts val="1000"/>
              </a:spcAft>
            </a:pPr>
            <a:r>
              <a:rPr sz="1500" b="1">
                <a:solidFill>
                  <a:srgbClr val="EB6834"/>
                </a:solidFill>
                <a:latin typeface="Calibri"/>
              </a:rPr>
              <a:t>•  </a:t>
            </a:r>
            <a:r>
              <a:rPr sz="1500" b="1">
                <a:solidFill>
                  <a:srgbClr val="1F2933"/>
                </a:solidFill>
                <a:latin typeface="Calibri"/>
              </a:rPr>
              <a:t>Explained: </a:t>
            </a:r>
            <a:r>
              <a:rPr sz="1500" b="0">
                <a:solidFill>
                  <a:srgbClr val="1F2933"/>
                </a:solidFill>
                <a:latin typeface="Calibri"/>
              </a:rPr>
              <a:t>exact TreeSHAP drivers, signed</a:t>
            </a:r>
          </a:p>
          <a:p>
            <a:pPr algn="l">
              <a:spcAft>
                <a:spcPts val="1000"/>
              </a:spcAft>
            </a:pPr>
            <a:r>
              <a:rPr sz="1500" b="1">
                <a:solidFill>
                  <a:srgbClr val="EB6834"/>
                </a:solidFill>
                <a:latin typeface="Calibri"/>
              </a:rPr>
              <a:t>•  </a:t>
            </a:r>
            <a:r>
              <a:rPr sz="1500" b="1">
                <a:solidFill>
                  <a:srgbClr val="1F2933"/>
                </a:solidFill>
                <a:latin typeface="Calibri"/>
              </a:rPr>
              <a:t>Safe by default: </a:t>
            </a:r>
            <a:r>
              <a:rPr sz="1500" b="0">
                <a:solidFill>
                  <a:srgbClr val="1F2933"/>
                </a:solidFill>
                <a:latin typeface="Calibri"/>
              </a:rPr>
              <a:t>flags confidence under 65% for manual review</a:t>
            </a:r>
          </a:p>
          <a:p>
            <a:pPr algn="l">
              <a:spcAft>
                <a:spcPts val="1000"/>
              </a:spcAft>
            </a:pPr>
            <a:r>
              <a:rPr sz="1500" b="1">
                <a:solidFill>
                  <a:srgbClr val="EB6834"/>
                </a:solidFill>
                <a:latin typeface="Calibri"/>
              </a:rPr>
              <a:t>•  </a:t>
            </a:r>
            <a:r>
              <a:rPr sz="1500" b="1">
                <a:solidFill>
                  <a:srgbClr val="1F2933"/>
                </a:solidFill>
                <a:latin typeface="Calibri"/>
              </a:rPr>
              <a:t>Secured: </a:t>
            </a:r>
            <a:r>
              <a:rPr sz="1500" b="0">
                <a:solidFill>
                  <a:srgbClr val="1F2933"/>
                </a:solidFill>
                <a:latin typeface="Calibri"/>
              </a:rPr>
              <a:t>bcrypt passwords, JWT roles, rate limit, encrypted PHI columns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Clinicians see the stage, the reasons and a review flag</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Screens from the running dashboard, using a simulated record</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4</a:t>
            </a:r>
          </a:p>
        </p:txBody>
      </p:sp>
      <p:pic>
        <p:nvPicPr>
          <p:cNvPr id="7" name="Picture 6" descr="ui_poster_crop.png"/>
          <p:cNvPicPr>
            <a:picLocks noChangeAspect="1"/>
          </p:cNvPicPr>
          <p:nvPr/>
        </p:nvPicPr>
        <p:blipFill>
          <a:blip r:embed="rId3"/>
          <a:stretch>
            <a:fillRect/>
          </a:stretch>
        </p:blipFill>
        <p:spPr>
          <a:xfrm>
            <a:off x="548640" y="1710975"/>
            <a:ext cx="6949440" cy="3344609"/>
          </a:xfrm>
          <a:prstGeom prst="rect">
            <a:avLst/>
          </a:prstGeom>
        </p:spPr>
      </p:pic>
      <p:sp>
        <p:nvSpPr>
          <p:cNvPr id="8" name="TextBox 7"/>
          <p:cNvSpPr txBox="1"/>
          <p:nvPr/>
        </p:nvSpPr>
        <p:spPr>
          <a:xfrm>
            <a:off x="548640" y="5074920"/>
            <a:ext cx="6949440" cy="365760"/>
          </a:xfrm>
          <a:prstGeom prst="rect">
            <a:avLst/>
          </a:prstGeom>
          <a:noFill/>
        </p:spPr>
        <p:txBody>
          <a:bodyPr wrap="square" anchor="t" lIns="45720" rIns="45720" tIns="27432" bIns="27432">
            <a:spAutoFit/>
          </a:bodyPr>
          <a:lstStyle/>
          <a:p>
            <a:pPr algn="l">
              <a:spcAft>
                <a:spcPts val="600"/>
              </a:spcAft>
            </a:pPr>
            <a:r>
              <a:rPr sz="1400" b="0">
                <a:solidFill>
                  <a:srgbClr val="52606D"/>
                </a:solidFill>
                <a:latin typeface="Calibri"/>
              </a:rPr>
              <a:t>ABPM Staging: predicted stage, probabilities, and signed drivers</a:t>
            </a:r>
          </a:p>
        </p:txBody>
      </p:sp>
      <p:sp>
        <p:nvSpPr>
          <p:cNvPr id="9" name="TextBox 8"/>
          <p:cNvSpPr txBox="1"/>
          <p:nvPr/>
        </p:nvSpPr>
        <p:spPr>
          <a:xfrm>
            <a:off x="548640" y="5486400"/>
            <a:ext cx="7132320" cy="914400"/>
          </a:xfrm>
          <a:prstGeom prst="rect">
            <a:avLst/>
          </a:prstGeom>
          <a:noFill/>
        </p:spPr>
        <p:txBody>
          <a:bodyPr wrap="square" anchor="t" lIns="45720" rIns="45720" tIns="27432" bIns="27432">
            <a:spAutoFit/>
          </a:bodyPr>
          <a:lstStyle/>
          <a:p>
            <a:pPr algn="l">
              <a:spcAft>
                <a:spcPts val="1000"/>
              </a:spcAft>
            </a:pPr>
            <a:r>
              <a:rPr sz="1600" b="1">
                <a:solidFill>
                  <a:srgbClr val="EB6834"/>
                </a:solidFill>
                <a:latin typeface="Calibri"/>
              </a:rPr>
              <a:t>•  </a:t>
            </a:r>
            <a:r>
              <a:rPr sz="1600" b="1">
                <a:solidFill>
                  <a:srgbClr val="1F2933"/>
                </a:solidFill>
                <a:latin typeface="Calibri"/>
              </a:rPr>
              <a:t>Every result </a:t>
            </a:r>
            <a:r>
              <a:rPr sz="1600" b="0">
                <a:solidFill>
                  <a:srgbClr val="1F2933"/>
                </a:solidFill>
                <a:latin typeface="Calibri"/>
              </a:rPr>
              <a:t>carries a disclaimer; confidence under 65% triggers a review banner</a:t>
            </a:r>
          </a:p>
        </p:txBody>
      </p:sp>
      <p:pic>
        <p:nvPicPr>
          <p:cNvPr id="10" name="Picture 9" descr="tour_2_summary.png"/>
          <p:cNvPicPr>
            <a:picLocks noChangeAspect="1"/>
          </p:cNvPicPr>
          <p:nvPr/>
        </p:nvPicPr>
        <p:blipFill>
          <a:blip r:embed="rId4"/>
          <a:stretch>
            <a:fillRect/>
          </a:stretch>
        </p:blipFill>
        <p:spPr>
          <a:xfrm>
            <a:off x="7955279" y="1693730"/>
            <a:ext cx="3566160" cy="2098939"/>
          </a:xfrm>
          <a:prstGeom prst="rect">
            <a:avLst/>
          </a:prstGeom>
        </p:spPr>
      </p:pic>
      <p:sp>
        <p:nvSpPr>
          <p:cNvPr id="11" name="TextBox 10"/>
          <p:cNvSpPr txBox="1"/>
          <p:nvPr/>
        </p:nvSpPr>
        <p:spPr>
          <a:xfrm>
            <a:off x="7955279" y="3794760"/>
            <a:ext cx="3566160" cy="365760"/>
          </a:xfrm>
          <a:prstGeom prst="rect">
            <a:avLst/>
          </a:prstGeom>
          <a:noFill/>
        </p:spPr>
        <p:txBody>
          <a:bodyPr wrap="square" anchor="t" lIns="45720" rIns="45720" tIns="27432" bIns="27432">
            <a:spAutoFit/>
          </a:bodyPr>
          <a:lstStyle/>
          <a:p>
            <a:pPr algn="l">
              <a:spcAft>
                <a:spcPts val="600"/>
              </a:spcAft>
            </a:pPr>
            <a:r>
              <a:rPr sz="1400" b="0">
                <a:solidFill>
                  <a:srgbClr val="52606D"/>
                </a:solidFill>
                <a:latin typeface="Calibri"/>
              </a:rPr>
              <a:t>Upload data: summary statistics</a:t>
            </a:r>
          </a:p>
        </p:txBody>
      </p:sp>
      <p:pic>
        <p:nvPicPr>
          <p:cNvPr id="12" name="Picture 11" descr="tour_3_dashboard.png"/>
          <p:cNvPicPr>
            <a:picLocks noChangeAspect="1"/>
          </p:cNvPicPr>
          <p:nvPr/>
        </p:nvPicPr>
        <p:blipFill>
          <a:blip r:embed="rId5"/>
          <a:stretch>
            <a:fillRect/>
          </a:stretch>
        </p:blipFill>
        <p:spPr>
          <a:xfrm>
            <a:off x="7955279" y="4254050"/>
            <a:ext cx="3566160" cy="2098939"/>
          </a:xfrm>
          <a:prstGeom prst="rect">
            <a:avLst/>
          </a:prstGeom>
        </p:spPr>
      </p:pic>
      <p:sp>
        <p:nvSpPr>
          <p:cNvPr id="13" name="TextBox 12"/>
          <p:cNvSpPr txBox="1"/>
          <p:nvPr/>
        </p:nvSpPr>
        <p:spPr>
          <a:xfrm>
            <a:off x="7955279" y="6309360"/>
            <a:ext cx="3566160" cy="274320"/>
          </a:xfrm>
          <a:prstGeom prst="rect">
            <a:avLst/>
          </a:prstGeom>
          <a:noFill/>
        </p:spPr>
        <p:txBody>
          <a:bodyPr wrap="square" anchor="t" lIns="45720" rIns="45720" tIns="27432" bIns="27432">
            <a:spAutoFit/>
          </a:bodyPr>
          <a:lstStyle/>
          <a:p>
            <a:pPr algn="l">
              <a:spcAft>
                <a:spcPts val="600"/>
              </a:spcAft>
            </a:pPr>
            <a:r>
              <a:rPr sz="1400" b="0">
                <a:solidFill>
                  <a:srgbClr val="52606D"/>
                </a:solidFill>
                <a:latin typeface="Calibri"/>
              </a:rPr>
              <a:t>Dashboard: risk score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Each patient is a 24-hour record reduced to 11 clinical features</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Simulated because real patient records are protected; dipping and surge patterns are built into the simulator</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5</a:t>
            </a:r>
          </a:p>
        </p:txBody>
      </p:sp>
      <p:sp>
        <p:nvSpPr>
          <p:cNvPr id="7" name="TextBox 6"/>
          <p:cNvSpPr txBox="1"/>
          <p:nvPr/>
        </p:nvSpPr>
        <p:spPr>
          <a:xfrm>
            <a:off x="548640" y="1737360"/>
            <a:ext cx="5303520" cy="4389120"/>
          </a:xfrm>
          <a:prstGeom prst="rect">
            <a:avLst/>
          </a:prstGeom>
          <a:noFill/>
        </p:spPr>
        <p:txBody>
          <a:bodyPr wrap="square" anchor="t" lIns="45720" rIns="45720" tIns="27432" bIns="27432">
            <a:spAutoFit/>
          </a:bodyPr>
          <a:lstStyle/>
          <a:p>
            <a:pPr algn="l">
              <a:spcAft>
                <a:spcPts val="1000"/>
              </a:spcAft>
            </a:pPr>
            <a:r>
              <a:rPr sz="1800" b="1">
                <a:solidFill>
                  <a:srgbClr val="EB6834"/>
                </a:solidFill>
                <a:latin typeface="Calibri"/>
              </a:rPr>
              <a:t>•  </a:t>
            </a:r>
            <a:r>
              <a:rPr sz="1800" b="1">
                <a:solidFill>
                  <a:srgbClr val="1F2933"/>
                </a:solidFill>
                <a:latin typeface="Calibri"/>
              </a:rPr>
              <a:t>1,800 patients x 48 readings: </a:t>
            </a:r>
            <a:r>
              <a:rPr sz="1800" b="0">
                <a:solidFill>
                  <a:srgbClr val="1F2933"/>
                </a:solidFill>
                <a:latin typeface="Calibri"/>
              </a:rPr>
              <a:t>noise, 3% artifacts, 8% missing</a:t>
            </a:r>
          </a:p>
          <a:p>
            <a:pPr algn="l">
              <a:spcAft>
                <a:spcPts val="1000"/>
              </a:spcAft>
            </a:pPr>
            <a:r>
              <a:rPr sz="1800" b="1">
                <a:solidFill>
                  <a:srgbClr val="EB6834"/>
                </a:solidFill>
                <a:latin typeface="Calibri"/>
              </a:rPr>
              <a:t>•  </a:t>
            </a:r>
            <a:r>
              <a:rPr sz="1800" b="1">
                <a:solidFill>
                  <a:srgbClr val="1F2933"/>
                </a:solidFill>
                <a:latin typeface="Calibri"/>
              </a:rPr>
              <a:t>11 features: </a:t>
            </a:r>
            <a:r>
              <a:rPr sz="1800" b="0">
                <a:solidFill>
                  <a:srgbClr val="1F2933"/>
                </a:solidFill>
                <a:latin typeface="Calibri"/>
              </a:rPr>
              <a:t>day/night pressure, MAP, pulse pressure, dipping ratio, age, BMI, heart rate</a:t>
            </a:r>
          </a:p>
          <a:p>
            <a:pPr algn="l">
              <a:spcAft>
                <a:spcPts val="1000"/>
              </a:spcAft>
            </a:pPr>
            <a:r>
              <a:rPr sz="1800" b="1">
                <a:solidFill>
                  <a:srgbClr val="EB6834"/>
                </a:solidFill>
                <a:latin typeface="Calibri"/>
              </a:rPr>
              <a:t>•  </a:t>
            </a:r>
            <a:r>
              <a:rPr sz="1800" b="1">
                <a:solidFill>
                  <a:srgbClr val="1F2933"/>
                </a:solidFill>
                <a:latin typeface="Calibri"/>
              </a:rPr>
              <a:t>XGBoost, </a:t>
            </a:r>
            <a:r>
              <a:rPr sz="1800" b="0">
                <a:solidFill>
                  <a:srgbClr val="1F2933"/>
                </a:solidFill>
                <a:latin typeface="Calibri"/>
              </a:rPr>
              <a:t>tuned on 1,260 patients; 540 held out and untouched until the end</a:t>
            </a:r>
          </a:p>
          <a:p>
            <a:pPr algn="l">
              <a:spcAft>
                <a:spcPts val="1000"/>
              </a:spcAft>
            </a:pPr>
            <a:r>
              <a:rPr sz="1800" b="1">
                <a:solidFill>
                  <a:srgbClr val="EB6834"/>
                </a:solidFill>
                <a:latin typeface="Calibri"/>
              </a:rPr>
              <a:t>•  </a:t>
            </a:r>
            <a:r>
              <a:rPr sz="1800" b="1">
                <a:solidFill>
                  <a:srgbClr val="C53030"/>
                </a:solidFill>
                <a:latin typeface="Calibri"/>
              </a:rPr>
              <a:t>Caveat: </a:t>
            </a:r>
            <a:r>
              <a:rPr sz="1800" b="0">
                <a:solidFill>
                  <a:srgbClr val="1F2933"/>
                </a:solidFill>
                <a:latin typeface="Calibri"/>
              </a:rPr>
              <a:t>labels and features come from the same simulator, so scores are an upper bound</a:t>
            </a:r>
          </a:p>
        </p:txBody>
      </p:sp>
      <p:pic>
        <p:nvPicPr>
          <p:cNvPr id="8" name="Picture 7" descr="topic6_fig6_circadian.png"/>
          <p:cNvPicPr>
            <a:picLocks noChangeAspect="1"/>
          </p:cNvPicPr>
          <p:nvPr/>
        </p:nvPicPr>
        <p:blipFill>
          <a:blip r:embed="rId3"/>
          <a:stretch>
            <a:fillRect/>
          </a:stretch>
        </p:blipFill>
        <p:spPr>
          <a:xfrm>
            <a:off x="5943600" y="1814399"/>
            <a:ext cx="5760720" cy="2772002"/>
          </a:xfrm>
          <a:prstGeom prst="rect">
            <a:avLst/>
          </a:prstGeom>
        </p:spPr>
      </p:pic>
      <p:sp>
        <p:nvSpPr>
          <p:cNvPr id="9" name="TextBox 8"/>
          <p:cNvSpPr txBox="1"/>
          <p:nvPr/>
        </p:nvSpPr>
        <p:spPr>
          <a:xfrm>
            <a:off x="5943600" y="4846320"/>
            <a:ext cx="5760720" cy="82296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Mean systolic profile by stage. The night-time dip and the 06:00 to 10:00 surge are assumptions built into the simulator, so seeing them confirms the pipeline works; it is not a clinical finding.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Cross-validation chose the model; the holdout chose nothing</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Rules were fixed first: adopt at 2 standard errors of log-loss gain, reject at minus 2</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6</a:t>
            </a:r>
          </a:p>
        </p:txBody>
      </p:sp>
      <p:pic>
        <p:nvPicPr>
          <p:cNvPr id="7" name="Picture 6" descr="topic7_cv_selection.png"/>
          <p:cNvPicPr>
            <a:picLocks noChangeAspect="1"/>
          </p:cNvPicPr>
          <p:nvPr/>
        </p:nvPicPr>
        <p:blipFill>
          <a:blip r:embed="rId3"/>
          <a:stretch>
            <a:fillRect/>
          </a:stretch>
        </p:blipFill>
        <p:spPr>
          <a:xfrm>
            <a:off x="457200" y="1761626"/>
            <a:ext cx="7498079" cy="3426187"/>
          </a:xfrm>
          <a:prstGeom prst="rect">
            <a:avLst/>
          </a:prstGeom>
        </p:spPr>
      </p:pic>
      <p:sp>
        <p:nvSpPr>
          <p:cNvPr id="8" name="TextBox 7"/>
          <p:cNvSpPr txBox="1"/>
          <p:nvPr/>
        </p:nvSpPr>
        <p:spPr>
          <a:xfrm>
            <a:off x="8138160" y="1737360"/>
            <a:ext cx="3657600" cy="4480560"/>
          </a:xfrm>
          <a:prstGeom prst="rect">
            <a:avLst/>
          </a:prstGeom>
          <a:noFill/>
        </p:spPr>
        <p:txBody>
          <a:bodyPr wrap="square" anchor="t" lIns="45720" rIns="45720" tIns="27432" bIns="27432">
            <a:spAutoFit/>
          </a:bodyPr>
          <a:lstStyle/>
          <a:p>
            <a:pPr algn="l">
              <a:spcAft>
                <a:spcPts val="1000"/>
              </a:spcAft>
            </a:pPr>
            <a:r>
              <a:rPr sz="1600" b="1">
                <a:solidFill>
                  <a:srgbClr val="EB6834"/>
                </a:solidFill>
                <a:latin typeface="Calibri"/>
              </a:rPr>
              <a:t>•  </a:t>
            </a:r>
            <a:r>
              <a:rPr sz="1600" b="1">
                <a:solidFill>
                  <a:srgbClr val="2F855A"/>
                </a:solidFill>
                <a:latin typeface="Calibri"/>
              </a:rPr>
              <a:t>Tuning: </a:t>
            </a:r>
            <a:r>
              <a:rPr sz="1600" b="0">
                <a:solidFill>
                  <a:srgbClr val="1F2933"/>
                </a:solidFill>
                <a:latin typeface="Calibri"/>
              </a:rPr>
              <a:t>adopted; holds up under nested CV</a:t>
            </a:r>
          </a:p>
          <a:p>
            <a:pPr algn="l">
              <a:spcAft>
                <a:spcPts val="1000"/>
              </a:spcAft>
            </a:pPr>
            <a:r>
              <a:rPr sz="1600" b="1">
                <a:solidFill>
                  <a:srgbClr val="EB6834"/>
                </a:solidFill>
                <a:latin typeface="Calibri"/>
              </a:rPr>
              <a:t>•  </a:t>
            </a:r>
            <a:r>
              <a:rPr sz="1600" b="1">
                <a:solidFill>
                  <a:srgbClr val="2A78D6"/>
                </a:solidFill>
                <a:latin typeface="Calibri"/>
              </a:rPr>
              <a:t>Features: </a:t>
            </a:r>
            <a:r>
              <a:rPr sz="1600" b="0">
                <a:solidFill>
                  <a:srgbClr val="1F2933"/>
                </a:solidFill>
                <a:latin typeface="Calibri"/>
              </a:rPr>
              <a:t>kept for interpretability, no accuracy gain</a:t>
            </a:r>
          </a:p>
          <a:p>
            <a:pPr algn="l">
              <a:spcAft>
                <a:spcPts val="1000"/>
              </a:spcAft>
            </a:pPr>
            <a:r>
              <a:rPr sz="1600" b="1">
                <a:solidFill>
                  <a:srgbClr val="EB6834"/>
                </a:solidFill>
                <a:latin typeface="Calibri"/>
              </a:rPr>
              <a:t>•  </a:t>
            </a:r>
            <a:r>
              <a:rPr sz="1600" b="1">
                <a:solidFill>
                  <a:srgbClr val="C53030"/>
                </a:solidFill>
                <a:latin typeface="Calibri"/>
              </a:rPr>
              <a:t>Isotonic calibration: </a:t>
            </a:r>
            <a:r>
              <a:rPr sz="1600" b="0">
                <a:solidFill>
                  <a:srgbClr val="1F2933"/>
                </a:solidFill>
                <a:latin typeface="Calibri"/>
              </a:rPr>
              <a:t>rejected, worse log loss and 5 to 6x slower</a:t>
            </a:r>
          </a:p>
          <a:p>
            <a:pPr algn="l">
              <a:spcAft>
                <a:spcPts val="1000"/>
              </a:spcAft>
            </a:pPr>
            <a:r>
              <a:rPr sz="1600" b="1">
                <a:solidFill>
                  <a:srgbClr val="EB6834"/>
                </a:solidFill>
                <a:latin typeface="Calibri"/>
              </a:rPr>
              <a:t>•  </a:t>
            </a:r>
            <a:r>
              <a:rPr sz="1600" b="1">
                <a:solidFill>
                  <a:srgbClr val="52606D"/>
                </a:solidFill>
                <a:latin typeface="Calibri"/>
              </a:rPr>
              <a:t>Surge features: </a:t>
            </a:r>
            <a:r>
              <a:rPr sz="1600" b="0">
                <a:solidFill>
                  <a:srgbClr val="1F2933"/>
                </a:solidFill>
                <a:latin typeface="Calibri"/>
              </a:rPr>
              <a:t>no supported gain</a:t>
            </a:r>
          </a:p>
        </p:txBody>
      </p:sp>
      <p:sp>
        <p:nvSpPr>
          <p:cNvPr id="9" name="TextBox 8"/>
          <p:cNvSpPr txBox="1"/>
          <p:nvPr/>
        </p:nvSpPr>
        <p:spPr>
          <a:xfrm>
            <a:off x="548640" y="5440680"/>
            <a:ext cx="7498079" cy="822960"/>
          </a:xfrm>
          <a:prstGeom prst="rect">
            <a:avLst/>
          </a:prstGeom>
          <a:noFill/>
        </p:spPr>
        <p:txBody>
          <a:bodyPr wrap="square" anchor="t" lIns="45720" rIns="45720" tIns="27432" bIns="27432">
            <a:spAutoFit/>
          </a:bodyPr>
          <a:lstStyle/>
          <a:p>
            <a:pPr algn="l">
              <a:spcAft>
                <a:spcPts val="600"/>
              </a:spcAft>
            </a:pPr>
            <a:r>
              <a:rPr sz="1400" b="0">
                <a:solidFill>
                  <a:srgbClr val="52606D"/>
                </a:solidFill>
                <a:latin typeface="Calibri"/>
              </a:rPr>
              <a:t>Corrected claims: feature engineering did not raise accuracy, and calibration did not "worsen" Brier score and ECE in cross-validation; its clear cost is log loss and latency.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90.2% accuracy and 97% Stage 2 recall, with the uncertainty shown</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Clear win over guideline rules; the gain over simpler machine learning is within noise</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7</a:t>
            </a:r>
          </a:p>
        </p:txBody>
      </p:sp>
      <p:pic>
        <p:nvPicPr>
          <p:cNvPr id="7" name="Picture 6" descr="topic7_benchmarks.png"/>
          <p:cNvPicPr>
            <a:picLocks noChangeAspect="1"/>
          </p:cNvPicPr>
          <p:nvPr/>
        </p:nvPicPr>
        <p:blipFill>
          <a:blip r:embed="rId3"/>
          <a:stretch>
            <a:fillRect/>
          </a:stretch>
        </p:blipFill>
        <p:spPr>
          <a:xfrm>
            <a:off x="457200" y="1949293"/>
            <a:ext cx="6949439" cy="3416614"/>
          </a:xfrm>
          <a:prstGeom prst="rect">
            <a:avLst/>
          </a:prstGeom>
        </p:spPr>
      </p:pic>
      <p:sp>
        <p:nvSpPr>
          <p:cNvPr id="8" name="Rectangle 7"/>
          <p:cNvSpPr/>
          <p:nvPr/>
        </p:nvSpPr>
        <p:spPr>
          <a:xfrm>
            <a:off x="7680960" y="169164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709928"/>
            <a:ext cx="1828800" cy="548640"/>
          </a:xfrm>
          <a:prstGeom prst="rect">
            <a:avLst/>
          </a:prstGeom>
          <a:noFill/>
        </p:spPr>
        <p:txBody>
          <a:bodyPr wrap="square" anchor="t" lIns="45720" rIns="45720" tIns="27432" bIns="27432">
            <a:spAutoFit/>
          </a:bodyPr>
          <a:lstStyle/>
          <a:p>
            <a:pPr algn="l">
              <a:spcAft>
                <a:spcPts val="600"/>
              </a:spcAft>
            </a:pPr>
            <a:r>
              <a:rPr sz="3000" b="1">
                <a:solidFill>
                  <a:srgbClr val="EB6834"/>
                </a:solidFill>
                <a:latin typeface="Calibri"/>
              </a:rPr>
              <a:t>0.970</a:t>
            </a:r>
          </a:p>
        </p:txBody>
      </p:sp>
      <p:sp>
        <p:nvSpPr>
          <p:cNvPr id="10" name="TextBox 9"/>
          <p:cNvSpPr txBox="1"/>
          <p:nvPr/>
        </p:nvSpPr>
        <p:spPr>
          <a:xfrm>
            <a:off x="7772400" y="225856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Stage 2 recall</a:t>
            </a:r>
          </a:p>
        </p:txBody>
      </p:sp>
      <p:sp>
        <p:nvSpPr>
          <p:cNvPr id="11" name="Rectangle 10"/>
          <p:cNvSpPr/>
          <p:nvPr/>
        </p:nvSpPr>
        <p:spPr>
          <a:xfrm>
            <a:off x="9829800" y="169164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21240" y="1709928"/>
            <a:ext cx="1828800" cy="548640"/>
          </a:xfrm>
          <a:prstGeom prst="rect">
            <a:avLst/>
          </a:prstGeom>
          <a:noFill/>
        </p:spPr>
        <p:txBody>
          <a:bodyPr wrap="square" anchor="t" lIns="45720" rIns="45720" tIns="27432" bIns="27432">
            <a:spAutoFit/>
          </a:bodyPr>
          <a:lstStyle/>
          <a:p>
            <a:pPr algn="l">
              <a:spcAft>
                <a:spcPts val="600"/>
              </a:spcAft>
            </a:pPr>
            <a:r>
              <a:rPr sz="3000" b="1">
                <a:solidFill>
                  <a:srgbClr val="EB6834"/>
                </a:solidFill>
                <a:latin typeface="Calibri"/>
              </a:rPr>
              <a:t>0.985</a:t>
            </a:r>
          </a:p>
        </p:txBody>
      </p:sp>
      <p:sp>
        <p:nvSpPr>
          <p:cNvPr id="13" name="TextBox 12"/>
          <p:cNvSpPr txBox="1"/>
          <p:nvPr/>
        </p:nvSpPr>
        <p:spPr>
          <a:xfrm>
            <a:off x="9921240" y="225856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Stage 2 precision</a:t>
            </a:r>
          </a:p>
        </p:txBody>
      </p:sp>
      <p:sp>
        <p:nvSpPr>
          <p:cNvPr id="14" name="Rectangle 13"/>
          <p:cNvSpPr/>
          <p:nvPr/>
        </p:nvSpPr>
        <p:spPr>
          <a:xfrm>
            <a:off x="7680960" y="292608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2944368"/>
            <a:ext cx="1828800" cy="548640"/>
          </a:xfrm>
          <a:prstGeom prst="rect">
            <a:avLst/>
          </a:prstGeom>
          <a:noFill/>
        </p:spPr>
        <p:txBody>
          <a:bodyPr wrap="square" anchor="t" lIns="45720" rIns="45720" tIns="27432" bIns="27432">
            <a:spAutoFit/>
          </a:bodyPr>
          <a:lstStyle/>
          <a:p>
            <a:pPr algn="l">
              <a:spcAft>
                <a:spcPts val="600"/>
              </a:spcAft>
            </a:pPr>
            <a:r>
              <a:rPr sz="3000" b="1">
                <a:solidFill>
                  <a:srgbClr val="2A78D6"/>
                </a:solidFill>
                <a:latin typeface="Calibri"/>
              </a:rPr>
              <a:t>0.984</a:t>
            </a:r>
          </a:p>
        </p:txBody>
      </p:sp>
      <p:sp>
        <p:nvSpPr>
          <p:cNvPr id="16" name="TextBox 15"/>
          <p:cNvSpPr txBox="1"/>
          <p:nvPr/>
        </p:nvSpPr>
        <p:spPr>
          <a:xfrm>
            <a:off x="7772400" y="349300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macro ROC-AUC</a:t>
            </a:r>
          </a:p>
        </p:txBody>
      </p:sp>
      <p:sp>
        <p:nvSpPr>
          <p:cNvPr id="17" name="Rectangle 16"/>
          <p:cNvSpPr/>
          <p:nvPr/>
        </p:nvSpPr>
        <p:spPr>
          <a:xfrm>
            <a:off x="9829800" y="292608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21240" y="2944368"/>
            <a:ext cx="1828800" cy="548640"/>
          </a:xfrm>
          <a:prstGeom prst="rect">
            <a:avLst/>
          </a:prstGeom>
          <a:noFill/>
        </p:spPr>
        <p:txBody>
          <a:bodyPr wrap="square" anchor="t" lIns="45720" rIns="45720" tIns="27432" bIns="27432">
            <a:spAutoFit/>
          </a:bodyPr>
          <a:lstStyle/>
          <a:p>
            <a:pPr algn="l">
              <a:spcAft>
                <a:spcPts val="600"/>
              </a:spcAft>
            </a:pPr>
            <a:r>
              <a:rPr sz="3000" b="1">
                <a:solidFill>
                  <a:srgbClr val="2A78D6"/>
                </a:solidFill>
                <a:latin typeface="Calibri"/>
              </a:rPr>
              <a:t>0.014</a:t>
            </a:r>
          </a:p>
        </p:txBody>
      </p:sp>
      <p:sp>
        <p:nvSpPr>
          <p:cNvPr id="19" name="TextBox 18"/>
          <p:cNvSpPr txBox="1"/>
          <p:nvPr/>
        </p:nvSpPr>
        <p:spPr>
          <a:xfrm>
            <a:off x="9921240" y="349300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calibration error (ECE)</a:t>
            </a:r>
          </a:p>
        </p:txBody>
      </p:sp>
      <p:sp>
        <p:nvSpPr>
          <p:cNvPr id="20" name="Rectangle 19"/>
          <p:cNvSpPr/>
          <p:nvPr/>
        </p:nvSpPr>
        <p:spPr>
          <a:xfrm>
            <a:off x="7680960" y="416052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4178808"/>
            <a:ext cx="1828800" cy="548640"/>
          </a:xfrm>
          <a:prstGeom prst="rect">
            <a:avLst/>
          </a:prstGeom>
          <a:noFill/>
        </p:spPr>
        <p:txBody>
          <a:bodyPr wrap="square" anchor="t" lIns="45720" rIns="45720" tIns="27432" bIns="27432">
            <a:spAutoFit/>
          </a:bodyPr>
          <a:lstStyle/>
          <a:p>
            <a:pPr algn="l">
              <a:spcAft>
                <a:spcPts val="600"/>
              </a:spcAft>
            </a:pPr>
            <a:r>
              <a:rPr sz="3000" b="1">
                <a:solidFill>
                  <a:srgbClr val="2A78D6"/>
                </a:solidFill>
                <a:latin typeface="Calibri"/>
              </a:rPr>
              <a:t>22 ms</a:t>
            </a:r>
          </a:p>
        </p:txBody>
      </p:sp>
      <p:sp>
        <p:nvSpPr>
          <p:cNvPr id="22" name="TextBox 21"/>
          <p:cNvSpPr txBox="1"/>
          <p:nvPr/>
        </p:nvSpPr>
        <p:spPr>
          <a:xfrm>
            <a:off x="7772400" y="472744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prediction + explanation</a:t>
            </a:r>
          </a:p>
        </p:txBody>
      </p:sp>
      <p:sp>
        <p:nvSpPr>
          <p:cNvPr id="23" name="Rectangle 22"/>
          <p:cNvSpPr/>
          <p:nvPr/>
        </p:nvSpPr>
        <p:spPr>
          <a:xfrm>
            <a:off x="9829800" y="4160520"/>
            <a:ext cx="2011680" cy="1051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4178808"/>
            <a:ext cx="1828800" cy="548640"/>
          </a:xfrm>
          <a:prstGeom prst="rect">
            <a:avLst/>
          </a:prstGeom>
          <a:noFill/>
        </p:spPr>
        <p:txBody>
          <a:bodyPr wrap="square" anchor="t" lIns="45720" rIns="45720" tIns="27432" bIns="27432">
            <a:spAutoFit/>
          </a:bodyPr>
          <a:lstStyle/>
          <a:p>
            <a:pPr algn="l">
              <a:spcAft>
                <a:spcPts val="600"/>
              </a:spcAft>
            </a:pPr>
            <a:r>
              <a:rPr sz="3000" b="1">
                <a:solidFill>
                  <a:srgbClr val="2F855A"/>
                </a:solidFill>
                <a:latin typeface="Calibri"/>
              </a:rPr>
              <a:t>+24 to +33</a:t>
            </a:r>
          </a:p>
        </p:txBody>
      </p:sp>
      <p:sp>
        <p:nvSpPr>
          <p:cNvPr id="25" name="TextBox 24"/>
          <p:cNvSpPr txBox="1"/>
          <p:nvPr/>
        </p:nvSpPr>
        <p:spPr>
          <a:xfrm>
            <a:off x="9921240" y="4727448"/>
            <a:ext cx="1828800" cy="457200"/>
          </a:xfrm>
          <a:prstGeom prst="rect">
            <a:avLst/>
          </a:prstGeom>
          <a:noFill/>
        </p:spPr>
        <p:txBody>
          <a:bodyPr wrap="square" anchor="t" lIns="45720" rIns="45720" tIns="27432" bIns="27432">
            <a:spAutoFit/>
          </a:bodyPr>
          <a:lstStyle/>
          <a:p>
            <a:pPr algn="l">
              <a:spcAft>
                <a:spcPts val="600"/>
              </a:spcAft>
            </a:pPr>
            <a:r>
              <a:rPr sz="1300" b="0">
                <a:solidFill>
                  <a:srgbClr val="52606D"/>
                </a:solidFill>
                <a:latin typeface="Calibri"/>
              </a:rPr>
              <a:t>points vs ABPM rule (95% CI)</a:t>
            </a:r>
          </a:p>
        </p:txBody>
      </p:sp>
      <p:sp>
        <p:nvSpPr>
          <p:cNvPr id="26" name="TextBox 25"/>
          <p:cNvSpPr txBox="1"/>
          <p:nvPr/>
        </p:nvSpPr>
        <p:spPr>
          <a:xfrm>
            <a:off x="548640" y="5760720"/>
            <a:ext cx="11155680" cy="640080"/>
          </a:xfrm>
          <a:prstGeom prst="rect">
            <a:avLst/>
          </a:prstGeom>
          <a:noFill/>
        </p:spPr>
        <p:txBody>
          <a:bodyPr wrap="square" anchor="t" lIns="45720" rIns="45720" tIns="27432" bIns="27432">
            <a:spAutoFit/>
          </a:bodyPr>
          <a:lstStyle/>
          <a:p>
            <a:pPr algn="l">
              <a:spcAft>
                <a:spcPts val="600"/>
              </a:spcAft>
            </a:pPr>
            <a:r>
              <a:rPr sz="1400" b="0">
                <a:solidFill>
                  <a:srgbClr val="52606D"/>
                </a:solidFill>
                <a:latin typeface="Calibri"/>
              </a:rPr>
              <a:t>Versus logistic regression the accuracy gain is -0.2 to +3.7 points (95% CI), and versus default XGBoost -0.6 to +3.1: both include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The audit found real gaps between the claims and the code</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Eight of the eleven findings, most serious first; the first six are fixed (full list in the report)</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8</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1" bandRow="1">
                <a:tableStyleId>{5C22544A-7EE6-4342-B048-85BDC9FD1C3A}</a:tableStyleId>
              </a:tblPr>
              <a:tblGrid>
                <a:gridCol w="6400800"/>
                <a:gridCol w="1280160"/>
                <a:gridCol w="3383280"/>
              </a:tblGrid>
              <a:tr h="497840">
                <a:tc>
                  <a:txBody>
                    <a:bodyPr/>
                    <a:lstStyle/>
                    <a:p>
                      <a:r>
                        <a:rPr sz="1500" b="1">
                          <a:solidFill>
                            <a:srgbClr val="FFFFFF"/>
                          </a:solidFill>
                          <a:latin typeface="Calibri"/>
                        </a:rPr>
                        <a:t>Finding</a:t>
                      </a:r>
                    </a:p>
                  </a:txBody>
                  <a:tcPr marT="36576" marB="36576">
                    <a:solidFill>
                      <a:srgbClr val="14306B"/>
                    </a:solidFill>
                  </a:tcPr>
                </a:tc>
                <a:tc>
                  <a:txBody>
                    <a:bodyPr/>
                    <a:lstStyle/>
                    <a:p>
                      <a:r>
                        <a:rPr sz="1500" b="1">
                          <a:solidFill>
                            <a:srgbClr val="FFFFFF"/>
                          </a:solidFill>
                          <a:latin typeface="Calibri"/>
                        </a:rPr>
                        <a:t>Severity</a:t>
                      </a:r>
                    </a:p>
                  </a:txBody>
                  <a:tcPr marT="36576" marB="36576">
                    <a:solidFill>
                      <a:srgbClr val="14306B"/>
                    </a:solidFill>
                  </a:tcPr>
                </a:tc>
                <a:tc>
                  <a:txBody>
                    <a:bodyPr/>
                    <a:lstStyle/>
                    <a:p>
                      <a:r>
                        <a:rPr sz="1500" b="1">
                          <a:solidFill>
                            <a:srgbClr val="FFFFFF"/>
                          </a:solidFill>
                          <a:latin typeface="Calibri"/>
                        </a:rPr>
                        <a:t>Status</a:t>
                      </a:r>
                    </a:p>
                  </a:txBody>
                  <a:tcPr marT="36576" marB="36576">
                    <a:solidFill>
                      <a:srgbClr val="14306B"/>
                    </a:solidFill>
                  </a:tcPr>
                </a:tc>
              </a:tr>
              <a:tr h="497840">
                <a:tc>
                  <a:txBody>
                    <a:bodyPr/>
                    <a:lstStyle/>
                    <a:p>
                      <a:r>
                        <a:rPr sz="1500" b="0">
                          <a:solidFill>
                            <a:srgbClr val="1F2933"/>
                          </a:solidFill>
                          <a:latin typeface="Calibri"/>
                        </a:rPr>
                        <a:t>Login accepted any password for a known username</a:t>
                      </a:r>
                    </a:p>
                  </a:txBody>
                  <a:tcPr marT="36576" marB="36576">
                    <a:solidFill>
                      <a:srgbClr val="F1F5F9"/>
                    </a:solidFill>
                  </a:tcPr>
                </a:tc>
                <a:tc>
                  <a:txBody>
                    <a:bodyPr/>
                    <a:lstStyle/>
                    <a:p>
                      <a:r>
                        <a:rPr sz="1500" b="1">
                          <a:solidFill>
                            <a:srgbClr val="C53030"/>
                          </a:solidFill>
                          <a:latin typeface="Calibri"/>
                        </a:rPr>
                        <a:t>Critical</a:t>
                      </a:r>
                    </a:p>
                  </a:txBody>
                  <a:tcPr marT="36576" marB="36576">
                    <a:solidFill>
                      <a:srgbClr val="F1F5F9"/>
                    </a:solidFill>
                  </a:tcPr>
                </a:tc>
                <a:tc>
                  <a:txBody>
                    <a:bodyPr/>
                    <a:lstStyle/>
                    <a:p>
                      <a:r>
                        <a:rPr sz="1500" b="0">
                          <a:solidFill>
                            <a:srgbClr val="1F2933"/>
                          </a:solidFill>
                          <a:latin typeface="Calibri"/>
                        </a:rPr>
                        <a:t>Fixed, tested</a:t>
                      </a:r>
                    </a:p>
                  </a:txBody>
                  <a:tcPr marT="36576" marB="36576">
                    <a:solidFill>
                      <a:srgbClr val="F1F5F9"/>
                    </a:solidFill>
                  </a:tcPr>
                </a:tc>
              </a:tr>
              <a:tr h="497840">
                <a:tc>
                  <a:txBody>
                    <a:bodyPr/>
                    <a:lstStyle/>
                    <a:p>
                      <a:r>
                        <a:rPr sz="1500" b="0">
                          <a:solidFill>
                            <a:srgbClr val="1F2933"/>
                          </a:solidFill>
                          <a:latin typeface="Calibri"/>
                        </a:rPr>
                        <a:t>Registration stored plaintext and allowed self-assigned admin role</a:t>
                      </a:r>
                    </a:p>
                  </a:txBody>
                  <a:tcPr marT="36576" marB="36576">
                    <a:solidFill>
                      <a:srgbClr val="FFFFFF"/>
                    </a:solidFill>
                  </a:tcPr>
                </a:tc>
                <a:tc>
                  <a:txBody>
                    <a:bodyPr/>
                    <a:lstStyle/>
                    <a:p>
                      <a:r>
                        <a:rPr sz="1500" b="1">
                          <a:solidFill>
                            <a:srgbClr val="C53030"/>
                          </a:solidFill>
                          <a:latin typeface="Calibri"/>
                        </a:rPr>
                        <a:t>Critical</a:t>
                      </a:r>
                    </a:p>
                  </a:txBody>
                  <a:tcPr marT="36576" marB="36576">
                    <a:solidFill>
                      <a:srgbClr val="FFFFFF"/>
                    </a:solidFill>
                  </a:tcPr>
                </a:tc>
                <a:tc>
                  <a:txBody>
                    <a:bodyPr/>
                    <a:lstStyle/>
                    <a:p>
                      <a:r>
                        <a:rPr sz="1500" b="0">
                          <a:solidFill>
                            <a:srgbClr val="1F2933"/>
                          </a:solidFill>
                          <a:latin typeface="Calibri"/>
                        </a:rPr>
                        <a:t>Fixed, tested</a:t>
                      </a:r>
                    </a:p>
                  </a:txBody>
                  <a:tcPr marT="36576" marB="36576">
                    <a:solidFill>
                      <a:srgbClr val="FFFFFF"/>
                    </a:solidFill>
                  </a:tcPr>
                </a:tc>
              </a:tr>
              <a:tr h="497840">
                <a:tc>
                  <a:txBody>
                    <a:bodyPr/>
                    <a:lstStyle/>
                    <a:p>
                      <a:r>
                        <a:rPr sz="1500" b="0">
                          <a:solidFill>
                            <a:srgbClr val="1F2933"/>
                          </a:solidFill>
                          <a:latin typeface="Calibri"/>
                        </a:rPr>
                        <a:t>Served model was per-reading and leaky, not the reported model</a:t>
                      </a:r>
                    </a:p>
                  </a:txBody>
                  <a:tcPr marT="36576" marB="36576">
                    <a:solidFill>
                      <a:srgbClr val="F1F5F9"/>
                    </a:solidFill>
                  </a:tcPr>
                </a:tc>
                <a:tc>
                  <a:txBody>
                    <a:bodyPr/>
                    <a:lstStyle/>
                    <a:p>
                      <a:r>
                        <a:rPr sz="1500" b="1">
                          <a:solidFill>
                            <a:srgbClr val="EB6834"/>
                          </a:solidFill>
                          <a:latin typeface="Calibri"/>
                        </a:rPr>
                        <a:t>High</a:t>
                      </a:r>
                    </a:p>
                  </a:txBody>
                  <a:tcPr marT="36576" marB="36576">
                    <a:solidFill>
                      <a:srgbClr val="F1F5F9"/>
                    </a:solidFill>
                  </a:tcPr>
                </a:tc>
                <a:tc>
                  <a:txBody>
                    <a:bodyPr/>
                    <a:lstStyle/>
                    <a:p>
                      <a:r>
                        <a:rPr sz="1500" b="0">
                          <a:solidFill>
                            <a:srgbClr val="1F2933"/>
                          </a:solidFill>
                          <a:latin typeface="Calibri"/>
                        </a:rPr>
                        <a:t>Fixed: new endpoint, parity test</a:t>
                      </a:r>
                    </a:p>
                  </a:txBody>
                  <a:tcPr marT="36576" marB="36576">
                    <a:solidFill>
                      <a:srgbClr val="F1F5F9"/>
                    </a:solidFill>
                  </a:tcPr>
                </a:tc>
              </a:tr>
              <a:tr h="497840">
                <a:tc>
                  <a:txBody>
                    <a:bodyPr/>
                    <a:lstStyle/>
                    <a:p>
                      <a:r>
                        <a:rPr sz="1500" b="0">
                          <a:solidFill>
                            <a:srgbClr val="1F2933"/>
                          </a:solidFill>
                          <a:latin typeface="Calibri"/>
                        </a:rPr>
                        <a:t>Holdout set influenced refinement decisions</a:t>
                      </a:r>
                    </a:p>
                  </a:txBody>
                  <a:tcPr marT="36576" marB="36576">
                    <a:solidFill>
                      <a:srgbClr val="FFFFFF"/>
                    </a:solidFill>
                  </a:tcPr>
                </a:tc>
                <a:tc>
                  <a:txBody>
                    <a:bodyPr/>
                    <a:lstStyle/>
                    <a:p>
                      <a:r>
                        <a:rPr sz="1500" b="1">
                          <a:solidFill>
                            <a:srgbClr val="EB6834"/>
                          </a:solidFill>
                          <a:latin typeface="Calibri"/>
                        </a:rPr>
                        <a:t>High</a:t>
                      </a:r>
                    </a:p>
                  </a:txBody>
                  <a:tcPr marT="36576" marB="36576">
                    <a:solidFill>
                      <a:srgbClr val="FFFFFF"/>
                    </a:solidFill>
                  </a:tcPr>
                </a:tc>
                <a:tc>
                  <a:txBody>
                    <a:bodyPr/>
                    <a:lstStyle/>
                    <a:p>
                      <a:r>
                        <a:rPr sz="1500" b="0">
                          <a:solidFill>
                            <a:srgbClr val="1F2933"/>
                          </a:solidFill>
                          <a:latin typeface="Calibri"/>
                        </a:rPr>
                        <a:t>Fixed: CV selection + nested check</a:t>
                      </a:r>
                    </a:p>
                  </a:txBody>
                  <a:tcPr marT="36576" marB="36576">
                    <a:solidFill>
                      <a:srgbClr val="FFFFFF"/>
                    </a:solidFill>
                  </a:tcPr>
                </a:tc>
              </a:tr>
              <a:tr h="497840">
                <a:tc>
                  <a:txBody>
                    <a:bodyPr/>
                    <a:lstStyle/>
                    <a:p>
                      <a:r>
                        <a:rPr sz="1500" b="0">
                          <a:solidFill>
                            <a:srgbClr val="1F2933"/>
                          </a:solidFill>
                          <a:latin typeface="Calibri"/>
                        </a:rPr>
                        <a:t>Suite broken (1 import error, 1 failing test); no tests for new logic</a:t>
                      </a:r>
                    </a:p>
                  </a:txBody>
                  <a:tcPr marT="36576" marB="36576">
                    <a:solidFill>
                      <a:srgbClr val="F1F5F9"/>
                    </a:solidFill>
                  </a:tcPr>
                </a:tc>
                <a:tc>
                  <a:txBody>
                    <a:bodyPr/>
                    <a:lstStyle/>
                    <a:p>
                      <a:r>
                        <a:rPr sz="1500" b="1">
                          <a:solidFill>
                            <a:srgbClr val="2A78D6"/>
                          </a:solidFill>
                          <a:latin typeface="Calibri"/>
                        </a:rPr>
                        <a:t>Medium</a:t>
                      </a:r>
                    </a:p>
                  </a:txBody>
                  <a:tcPr marT="36576" marB="36576">
                    <a:solidFill>
                      <a:srgbClr val="F1F5F9"/>
                    </a:solidFill>
                  </a:tcPr>
                </a:tc>
                <a:tc>
                  <a:txBody>
                    <a:bodyPr/>
                    <a:lstStyle/>
                    <a:p>
                      <a:r>
                        <a:rPr sz="1500" b="0">
                          <a:solidFill>
                            <a:srgbClr val="1F2933"/>
                          </a:solidFill>
                          <a:latin typeface="Calibri"/>
                        </a:rPr>
                        <a:t>Fixed: all tests pass</a:t>
                      </a:r>
                    </a:p>
                  </a:txBody>
                  <a:tcPr marT="36576" marB="36576">
                    <a:solidFill>
                      <a:srgbClr val="F1F5F9"/>
                    </a:solidFill>
                  </a:tcPr>
                </a:tc>
              </a:tr>
              <a:tr h="497840">
                <a:tc>
                  <a:txBody>
                    <a:bodyPr/>
                    <a:lstStyle/>
                    <a:p>
                      <a:r>
                        <a:rPr sz="1500" b="0">
                          <a:solidFill>
                            <a:srgbClr val="1F2933"/>
                          </a:solidFill>
                          <a:latin typeface="Calibri"/>
                        </a:rPr>
                        <a:t>Jira override retraining and a dashboard SHAP view were claimed, not built</a:t>
                      </a:r>
                    </a:p>
                  </a:txBody>
                  <a:tcPr marT="36576" marB="36576">
                    <a:solidFill>
                      <a:srgbClr val="FFFFFF"/>
                    </a:solidFill>
                  </a:tcPr>
                </a:tc>
                <a:tc>
                  <a:txBody>
                    <a:bodyPr/>
                    <a:lstStyle/>
                    <a:p>
                      <a:r>
                        <a:rPr sz="1500" b="1">
                          <a:solidFill>
                            <a:srgbClr val="2A78D6"/>
                          </a:solidFill>
                          <a:latin typeface="Calibri"/>
                        </a:rPr>
                        <a:t>Medium</a:t>
                      </a:r>
                    </a:p>
                  </a:txBody>
                  <a:tcPr marT="36576" marB="36576">
                    <a:solidFill>
                      <a:srgbClr val="FFFFFF"/>
                    </a:solidFill>
                  </a:tcPr>
                </a:tc>
                <a:tc>
                  <a:txBody>
                    <a:bodyPr/>
                    <a:lstStyle/>
                    <a:p>
                      <a:r>
                        <a:rPr sz="1500" b="0">
                          <a:solidFill>
                            <a:srgbClr val="1F2933"/>
                          </a:solidFill>
                          <a:latin typeface="Calibri"/>
                        </a:rPr>
                        <a:t>Claim removed; SHAP page built</a:t>
                      </a:r>
                    </a:p>
                  </a:txBody>
                  <a:tcPr marT="36576" marB="36576">
                    <a:solidFill>
                      <a:srgbClr val="FFFFFF"/>
                    </a:solidFill>
                  </a:tcPr>
                </a:tc>
              </a:tr>
              <a:tr h="497840">
                <a:tc>
                  <a:txBody>
                    <a:bodyPr/>
                    <a:lstStyle/>
                    <a:p>
                      <a:r>
                        <a:rPr sz="1500" b="0">
                          <a:solidFill>
                            <a:srgbClr val="1F2933"/>
                          </a:solidFill>
                          <a:latin typeface="Calibri"/>
                        </a:rPr>
                        <a:t>Database encryption key has a built-in default</a:t>
                      </a:r>
                    </a:p>
                  </a:txBody>
                  <a:tcPr marT="36576" marB="36576">
                    <a:solidFill>
                      <a:srgbClr val="F1F5F9"/>
                    </a:solidFill>
                  </a:tcPr>
                </a:tc>
                <a:tc>
                  <a:txBody>
                    <a:bodyPr/>
                    <a:lstStyle/>
                    <a:p>
                      <a:r>
                        <a:rPr sz="1500" b="1">
                          <a:solidFill>
                            <a:srgbClr val="2A78D6"/>
                          </a:solidFill>
                          <a:latin typeface="Calibri"/>
                        </a:rPr>
                        <a:t>Medium</a:t>
                      </a:r>
                    </a:p>
                  </a:txBody>
                  <a:tcPr marT="36576" marB="36576">
                    <a:solidFill>
                      <a:srgbClr val="F1F5F9"/>
                    </a:solidFill>
                  </a:tcPr>
                </a:tc>
                <a:tc>
                  <a:txBody>
                    <a:bodyPr/>
                    <a:lstStyle/>
                    <a:p>
                      <a:r>
                        <a:rPr sz="1500" b="0">
                          <a:solidFill>
                            <a:srgbClr val="1F2933"/>
                          </a:solidFill>
                          <a:latin typeface="Calibri"/>
                        </a:rPr>
                        <a:t>Open: needs re-encryption</a:t>
                      </a:r>
                    </a:p>
                  </a:txBody>
                  <a:tcPr marT="36576" marB="36576">
                    <a:solidFill>
                      <a:srgbClr val="F1F5F9"/>
                    </a:solidFill>
                  </a:tcPr>
                </a:tc>
              </a:tr>
              <a:tr h="497840">
                <a:tc>
                  <a:txBody>
                    <a:bodyPr/>
                    <a:lstStyle/>
                    <a:p>
                      <a:r>
                        <a:rPr sz="1500" b="0">
                          <a:solidFill>
                            <a:srgbClr val="1F2933"/>
                          </a:solidFill>
                          <a:latin typeface="Calibri"/>
                        </a:rPr>
                        <a:t>Demo accounts ship with known passwords; CORS open to all origins</a:t>
                      </a:r>
                    </a:p>
                  </a:txBody>
                  <a:tcPr marT="36576" marB="36576">
                    <a:solidFill>
                      <a:srgbClr val="FFFFFF"/>
                    </a:solidFill>
                  </a:tcPr>
                </a:tc>
                <a:tc>
                  <a:txBody>
                    <a:bodyPr/>
                    <a:lstStyle/>
                    <a:p>
                      <a:r>
                        <a:rPr sz="1500" b="1">
                          <a:solidFill>
                            <a:srgbClr val="52606D"/>
                          </a:solidFill>
                          <a:latin typeface="Calibri"/>
                        </a:rPr>
                        <a:t>Low</a:t>
                      </a:r>
                    </a:p>
                  </a:txBody>
                  <a:tcPr marT="36576" marB="36576">
                    <a:solidFill>
                      <a:srgbClr val="FFFFFF"/>
                    </a:solidFill>
                  </a:tcPr>
                </a:tc>
                <a:tc>
                  <a:txBody>
                    <a:bodyPr/>
                    <a:lstStyle/>
                    <a:p>
                      <a:r>
                        <a:rPr sz="1500" b="0">
                          <a:solidFill>
                            <a:srgbClr val="1F2933"/>
                          </a:solidFill>
                          <a:latin typeface="Calibri"/>
                        </a:rPr>
                        <a:t>Mitigated: hashed, env overrides</a:t>
                      </a:r>
                    </a:p>
                  </a:txBody>
                  <a:tcPr marT="36576" marB="36576">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Where it fails: near stage cut-points, and for younger patients</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70% of errors fall within 5 mmHg of a stage boundary; accuracy is lowest under age 45</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9</a:t>
            </a:r>
          </a:p>
        </p:txBody>
      </p:sp>
      <p:pic>
        <p:nvPicPr>
          <p:cNvPr id="7" name="Picture 6" descr="topic6_fig10_errors.png"/>
          <p:cNvPicPr>
            <a:picLocks noChangeAspect="1"/>
          </p:cNvPicPr>
          <p:nvPr/>
        </p:nvPicPr>
        <p:blipFill>
          <a:blip r:embed="rId3"/>
          <a:stretch>
            <a:fillRect/>
          </a:stretch>
        </p:blipFill>
        <p:spPr>
          <a:xfrm>
            <a:off x="457200" y="1989268"/>
            <a:ext cx="5669280" cy="2513703"/>
          </a:xfrm>
          <a:prstGeom prst="rect">
            <a:avLst/>
          </a:prstGeom>
        </p:spPr>
      </p:pic>
      <p:pic>
        <p:nvPicPr>
          <p:cNvPr id="8" name="Picture 7" descr="topic7_subgroups.png"/>
          <p:cNvPicPr>
            <a:picLocks noChangeAspect="1"/>
          </p:cNvPicPr>
          <p:nvPr/>
        </p:nvPicPr>
        <p:blipFill>
          <a:blip r:embed="rId4"/>
          <a:stretch>
            <a:fillRect/>
          </a:stretch>
        </p:blipFill>
        <p:spPr>
          <a:xfrm>
            <a:off x="6217920" y="1806921"/>
            <a:ext cx="5486400" cy="2878397"/>
          </a:xfrm>
          <a:prstGeom prst="rect">
            <a:avLst/>
          </a:prstGeom>
        </p:spPr>
      </p:pic>
      <p:sp>
        <p:nvSpPr>
          <p:cNvPr id="9" name="TextBox 8"/>
          <p:cNvSpPr txBox="1"/>
          <p:nvPr/>
        </p:nvSpPr>
        <p:spPr>
          <a:xfrm>
            <a:off x="548640" y="4983480"/>
            <a:ext cx="11155680" cy="1371600"/>
          </a:xfrm>
          <a:prstGeom prst="rect">
            <a:avLst/>
          </a:prstGeom>
          <a:noFill/>
        </p:spPr>
        <p:txBody>
          <a:bodyPr wrap="square" anchor="t" lIns="45720" rIns="45720" tIns="27432" bIns="27432">
            <a:spAutoFit/>
          </a:bodyPr>
          <a:lstStyle/>
          <a:p>
            <a:pPr algn="l">
              <a:spcAft>
                <a:spcPts val="1000"/>
              </a:spcAft>
            </a:pPr>
            <a:r>
              <a:rPr sz="1600" b="1">
                <a:solidFill>
                  <a:srgbClr val="EB6834"/>
                </a:solidFill>
                <a:latin typeface="Calibri"/>
              </a:rPr>
              <a:t>•  </a:t>
            </a:r>
            <a:r>
              <a:rPr sz="1600" b="1">
                <a:solidFill>
                  <a:srgbClr val="1F2933"/>
                </a:solidFill>
                <a:latin typeface="Calibri"/>
              </a:rPr>
              <a:t>Boundary errors: </a:t>
            </a:r>
            <a:r>
              <a:rPr sz="1600" b="0">
                <a:solidFill>
                  <a:srgbClr val="1F2933"/>
                </a:solidFill>
                <a:latin typeface="Calibri"/>
              </a:rPr>
              <a:t>a 5 mmHg measurement wobble can flip a stage; the review flag and, later, prediction sets target these cases</a:t>
            </a:r>
          </a:p>
          <a:p>
            <a:pPr algn="l">
              <a:spcAft>
                <a:spcPts val="1000"/>
              </a:spcAft>
            </a:pPr>
            <a:r>
              <a:rPr sz="1600" b="1">
                <a:solidFill>
                  <a:srgbClr val="EB6834"/>
                </a:solidFill>
                <a:latin typeface="Calibri"/>
              </a:rPr>
              <a:t>•  </a:t>
            </a:r>
            <a:r>
              <a:rPr sz="1600" b="1">
                <a:solidFill>
                  <a:srgbClr val="C53030"/>
                </a:solidFill>
                <a:latin typeface="Calibri"/>
              </a:rPr>
              <a:t>Not validated clinically: </a:t>
            </a:r>
            <a:r>
              <a:rPr sz="1600" b="0">
                <a:solidFill>
                  <a:srgbClr val="1F2933"/>
                </a:solidFill>
                <a:latin typeface="Calibri"/>
              </a:rPr>
              <a:t>simulated data, same-generator labels; the API returns a disclaimer with every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1064240" cy="731520"/>
          </a:xfrm>
          <a:prstGeom prst="rect">
            <a:avLst/>
          </a:prstGeom>
          <a:noFill/>
        </p:spPr>
        <p:txBody>
          <a:bodyPr wrap="square" anchor="ctr" lIns="45720" rIns="45720" tIns="27432" bIns="27432">
            <a:spAutoFit/>
          </a:bodyPr>
          <a:lstStyle/>
          <a:p>
            <a:pPr algn="l">
              <a:spcAft>
                <a:spcPts val="600"/>
              </a:spcAft>
            </a:pPr>
            <a:r>
              <a:rPr sz="2800" b="1">
                <a:solidFill>
                  <a:srgbClr val="14306B"/>
                </a:solidFill>
                <a:latin typeface="Calibri"/>
              </a:rPr>
              <a:t>Next: prove it on real data, then predict outcomes</a:t>
            </a:r>
          </a:p>
        </p:txBody>
      </p:sp>
      <p:sp>
        <p:nvSpPr>
          <p:cNvPr id="3" name="TextBox 2"/>
          <p:cNvSpPr txBox="1"/>
          <p:nvPr/>
        </p:nvSpPr>
        <p:spPr>
          <a:xfrm>
            <a:off x="548640" y="960120"/>
            <a:ext cx="11064240" cy="457200"/>
          </a:xfrm>
          <a:prstGeom prst="rect">
            <a:avLst/>
          </a:prstGeom>
          <a:noFill/>
        </p:spPr>
        <p:txBody>
          <a:bodyPr wrap="square" anchor="t" lIns="45720" rIns="45720" tIns="27432" bIns="27432">
            <a:spAutoFit/>
          </a:bodyPr>
          <a:lstStyle/>
          <a:p>
            <a:pPr algn="l">
              <a:spcAft>
                <a:spcPts val="600"/>
              </a:spcAft>
            </a:pPr>
            <a:r>
              <a:rPr sz="1600" b="0">
                <a:solidFill>
                  <a:srgbClr val="52606D"/>
                </a:solidFill>
                <a:latin typeface="Calibri"/>
              </a:rPr>
              <a:t>Each recommendation answers a specific finding; the last two follow current practice in clinical machine learning</a:t>
            </a:r>
          </a:p>
        </p:txBody>
      </p:sp>
      <p:sp>
        <p:nvSpPr>
          <p:cNvPr id="4" name="Rectangle 3"/>
          <p:cNvSpPr/>
          <p:nvPr/>
        </p:nvSpPr>
        <p:spPr>
          <a:xfrm>
            <a:off x="548640" y="1417320"/>
            <a:ext cx="1097280" cy="4572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73952"/>
            <a:ext cx="8229600" cy="274320"/>
          </a:xfrm>
          <a:prstGeom prst="rect">
            <a:avLst/>
          </a:prstGeom>
          <a:noFill/>
        </p:spPr>
        <p:txBody>
          <a:bodyPr wrap="square" anchor="t" lIns="45720" rIns="45720" tIns="27432" bIns="27432">
            <a:spAutoFit/>
          </a:bodyPr>
          <a:lstStyle/>
          <a:p>
            <a:pPr algn="l">
              <a:spcAft>
                <a:spcPts val="600"/>
              </a:spcAft>
            </a:pPr>
            <a:r>
              <a:rPr sz="1000" b="0">
                <a:solidFill>
                  <a:srgbClr val="52606D"/>
                </a:solidFill>
                <a:latin typeface="Calibri"/>
              </a:rPr>
              <a:t>Telehealth Hypertension Analytics  |  DSC-590  |  R. Chakraborty  |  release tag topic7-submission</a:t>
            </a:r>
          </a:p>
        </p:txBody>
      </p:sp>
      <p:sp>
        <p:nvSpPr>
          <p:cNvPr id="6" name="TextBox 5"/>
          <p:cNvSpPr txBox="1"/>
          <p:nvPr/>
        </p:nvSpPr>
        <p:spPr>
          <a:xfrm>
            <a:off x="10972800" y="6473952"/>
            <a:ext cx="731520" cy="274320"/>
          </a:xfrm>
          <a:prstGeom prst="rect">
            <a:avLst/>
          </a:prstGeom>
          <a:noFill/>
        </p:spPr>
        <p:txBody>
          <a:bodyPr wrap="square" anchor="t" lIns="45720" rIns="45720" tIns="27432" bIns="27432">
            <a:spAutoFit/>
          </a:bodyPr>
          <a:lstStyle/>
          <a:p>
            <a:pPr algn="r">
              <a:spcAft>
                <a:spcPts val="600"/>
              </a:spcAft>
            </a:pPr>
            <a:r>
              <a:rPr sz="1000" b="0">
                <a:solidFill>
                  <a:srgbClr val="52606D"/>
                </a:solidFill>
                <a:latin typeface="Calibri"/>
              </a:rPr>
              <a:t>10</a:t>
            </a:r>
          </a:p>
        </p:txBody>
      </p:sp>
      <p:sp>
        <p:nvSpPr>
          <p:cNvPr id="7" name="Rectangle 6"/>
          <p:cNvSpPr/>
          <p:nvPr/>
        </p:nvSpPr>
        <p:spPr>
          <a:xfrm>
            <a:off x="548640" y="1691640"/>
            <a:ext cx="82296" cy="74980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73352"/>
            <a:ext cx="3566160" cy="777240"/>
          </a:xfrm>
          <a:prstGeom prst="rect">
            <a:avLst/>
          </a:prstGeom>
          <a:noFill/>
        </p:spPr>
        <p:txBody>
          <a:bodyPr wrap="square" anchor="ctr" lIns="45720" rIns="45720" tIns="27432" bIns="27432">
            <a:spAutoFit/>
          </a:bodyPr>
          <a:lstStyle/>
          <a:p>
            <a:pPr algn="l">
              <a:spcAft>
                <a:spcPts val="600"/>
              </a:spcAft>
            </a:pPr>
            <a:r>
              <a:rPr sz="1900" b="1">
                <a:solidFill>
                  <a:srgbClr val="14306B"/>
                </a:solidFill>
                <a:latin typeface="Calibri"/>
              </a:rPr>
              <a:t>1  Validate externally</a:t>
            </a:r>
          </a:p>
        </p:txBody>
      </p:sp>
      <p:sp>
        <p:nvSpPr>
          <p:cNvPr id="9" name="TextBox 8"/>
          <p:cNvSpPr txBox="1"/>
          <p:nvPr/>
        </p:nvSpPr>
        <p:spPr>
          <a:xfrm>
            <a:off x="4389120" y="1673352"/>
            <a:ext cx="7315200" cy="777240"/>
          </a:xfrm>
          <a:prstGeom prst="rect">
            <a:avLst/>
          </a:prstGeom>
          <a:noFill/>
        </p:spPr>
        <p:txBody>
          <a:bodyPr wrap="square" anchor="ctr" lIns="45720" rIns="45720" tIns="27432" bIns="27432">
            <a:spAutoFit/>
          </a:bodyPr>
          <a:lstStyle/>
          <a:p>
            <a:pPr algn="l">
              <a:spcAft>
                <a:spcPts val="600"/>
              </a:spcAft>
            </a:pPr>
            <a:r>
              <a:rPr sz="1600" b="0">
                <a:solidFill>
                  <a:srgbClr val="1F2933"/>
                </a:solidFill>
                <a:latin typeface="Calibri"/>
              </a:rPr>
              <a:t>All evidence is synthetic. Test on real multi-site ABPM data and report to TRIPOD+AI (Collins et al., 2024).</a:t>
            </a:r>
          </a:p>
        </p:txBody>
      </p:sp>
      <p:sp>
        <p:nvSpPr>
          <p:cNvPr id="10" name="Rectangle 9"/>
          <p:cNvSpPr/>
          <p:nvPr/>
        </p:nvSpPr>
        <p:spPr>
          <a:xfrm>
            <a:off x="548640" y="2606040"/>
            <a:ext cx="82296" cy="74980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587752"/>
            <a:ext cx="3566160" cy="777240"/>
          </a:xfrm>
          <a:prstGeom prst="rect">
            <a:avLst/>
          </a:prstGeom>
          <a:noFill/>
        </p:spPr>
        <p:txBody>
          <a:bodyPr wrap="square" anchor="ctr" lIns="45720" rIns="45720" tIns="27432" bIns="27432">
            <a:spAutoFit/>
          </a:bodyPr>
          <a:lstStyle/>
          <a:p>
            <a:pPr algn="l">
              <a:spcAft>
                <a:spcPts val="600"/>
              </a:spcAft>
            </a:pPr>
            <a:r>
              <a:rPr sz="1900" b="1">
                <a:solidFill>
                  <a:srgbClr val="14306B"/>
                </a:solidFill>
                <a:latin typeface="Calibri"/>
              </a:rPr>
              <a:t>2  Predict outcomes, not stage</a:t>
            </a:r>
          </a:p>
        </p:txBody>
      </p:sp>
      <p:sp>
        <p:nvSpPr>
          <p:cNvPr id="12" name="TextBox 11"/>
          <p:cNvSpPr txBox="1"/>
          <p:nvPr/>
        </p:nvSpPr>
        <p:spPr>
          <a:xfrm>
            <a:off x="4389120" y="2587752"/>
            <a:ext cx="7315200" cy="777240"/>
          </a:xfrm>
          <a:prstGeom prst="rect">
            <a:avLst/>
          </a:prstGeom>
          <a:noFill/>
        </p:spPr>
        <p:txBody>
          <a:bodyPr wrap="square" anchor="ctr" lIns="45720" rIns="45720" tIns="27432" bIns="27432">
            <a:spAutoFit/>
          </a:bodyPr>
          <a:lstStyle/>
          <a:p>
            <a:pPr algn="l">
              <a:spcAft>
                <a:spcPts val="600"/>
              </a:spcAft>
            </a:pPr>
            <a:r>
              <a:rPr sz="1600" b="0">
                <a:solidFill>
                  <a:srgbClr val="1F2933"/>
                </a:solidFill>
                <a:latin typeface="Calibri"/>
              </a:rPr>
              <a:t>Stage labels come from the same thresholds the model learns, so it mostly re-learns a rule.</a:t>
            </a:r>
          </a:p>
        </p:txBody>
      </p:sp>
      <p:sp>
        <p:nvSpPr>
          <p:cNvPr id="13" name="Rectangle 12"/>
          <p:cNvSpPr/>
          <p:nvPr/>
        </p:nvSpPr>
        <p:spPr>
          <a:xfrm>
            <a:off x="548640" y="3520440"/>
            <a:ext cx="82296" cy="74980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502152"/>
            <a:ext cx="3566160" cy="777240"/>
          </a:xfrm>
          <a:prstGeom prst="rect">
            <a:avLst/>
          </a:prstGeom>
          <a:noFill/>
        </p:spPr>
        <p:txBody>
          <a:bodyPr wrap="square" anchor="ctr" lIns="45720" rIns="45720" tIns="27432" bIns="27432">
            <a:spAutoFit/>
          </a:bodyPr>
          <a:lstStyle/>
          <a:p>
            <a:pPr algn="l">
              <a:spcAft>
                <a:spcPts val="600"/>
              </a:spcAft>
            </a:pPr>
            <a:r>
              <a:rPr sz="1900" b="1">
                <a:solidFill>
                  <a:srgbClr val="14306B"/>
                </a:solidFill>
                <a:latin typeface="Calibri"/>
              </a:rPr>
              <a:t>3  Add conformal prediction sets</a:t>
            </a:r>
          </a:p>
        </p:txBody>
      </p:sp>
      <p:sp>
        <p:nvSpPr>
          <p:cNvPr id="15" name="TextBox 14"/>
          <p:cNvSpPr txBox="1"/>
          <p:nvPr/>
        </p:nvSpPr>
        <p:spPr>
          <a:xfrm>
            <a:off x="4389120" y="3502152"/>
            <a:ext cx="7315200" cy="777240"/>
          </a:xfrm>
          <a:prstGeom prst="rect">
            <a:avLst/>
          </a:prstGeom>
          <a:noFill/>
        </p:spPr>
        <p:txBody>
          <a:bodyPr wrap="square" anchor="ctr" lIns="45720" rIns="45720" tIns="27432" bIns="27432">
            <a:spAutoFit/>
          </a:bodyPr>
          <a:lstStyle/>
          <a:p>
            <a:pPr algn="l">
              <a:spcAft>
                <a:spcPts val="600"/>
              </a:spcAft>
            </a:pPr>
            <a:r>
              <a:rPr sz="1600" b="0">
                <a:solidFill>
                  <a:srgbClr val="1F2933"/>
                </a:solidFill>
                <a:latin typeface="Calibri"/>
              </a:rPr>
              <a:t>The 65% review cut-off is unvalidated; sets with a coverage guarantee suit boundary cases (Angelopoulos &amp; Bates, 2023).</a:t>
            </a:r>
          </a:p>
        </p:txBody>
      </p:sp>
      <p:sp>
        <p:nvSpPr>
          <p:cNvPr id="16" name="Rectangle 15"/>
          <p:cNvSpPr/>
          <p:nvPr/>
        </p:nvSpPr>
        <p:spPr>
          <a:xfrm>
            <a:off x="548640" y="4434840"/>
            <a:ext cx="82296" cy="74980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416552"/>
            <a:ext cx="3566160" cy="777240"/>
          </a:xfrm>
          <a:prstGeom prst="rect">
            <a:avLst/>
          </a:prstGeom>
          <a:noFill/>
        </p:spPr>
        <p:txBody>
          <a:bodyPr wrap="square" anchor="ctr" lIns="45720" rIns="45720" tIns="27432" bIns="27432">
            <a:spAutoFit/>
          </a:bodyPr>
          <a:lstStyle/>
          <a:p>
            <a:pPr algn="l">
              <a:spcAft>
                <a:spcPts val="600"/>
              </a:spcAft>
            </a:pPr>
            <a:r>
              <a:rPr sz="1900" b="1">
                <a:solidFill>
                  <a:srgbClr val="14306B"/>
                </a:solidFill>
                <a:latin typeface="Calibri"/>
              </a:rPr>
              <a:t>4  Close the loop</a:t>
            </a:r>
          </a:p>
        </p:txBody>
      </p:sp>
      <p:sp>
        <p:nvSpPr>
          <p:cNvPr id="18" name="TextBox 17"/>
          <p:cNvSpPr txBox="1"/>
          <p:nvPr/>
        </p:nvSpPr>
        <p:spPr>
          <a:xfrm>
            <a:off x="4389120" y="4416552"/>
            <a:ext cx="7315200" cy="777240"/>
          </a:xfrm>
          <a:prstGeom prst="rect">
            <a:avLst/>
          </a:prstGeom>
          <a:noFill/>
        </p:spPr>
        <p:txBody>
          <a:bodyPr wrap="square" anchor="ctr" lIns="45720" rIns="45720" tIns="27432" bIns="27432">
            <a:spAutoFit/>
          </a:bodyPr>
          <a:lstStyle/>
          <a:p>
            <a:pPr algn="l">
              <a:spcAft>
                <a:spcPts val="600"/>
              </a:spcAft>
            </a:pPr>
            <a:r>
              <a:rPr sz="1600" b="0">
                <a:solidFill>
                  <a:srgbClr val="1F2933"/>
                </a:solidFill>
                <a:latin typeface="Calibri"/>
              </a:rPr>
              <a:t>Log overrides, monitor drift, retrain on a schedule, ship a model card per release (Mitchell et al., 2019).</a:t>
            </a:r>
          </a:p>
        </p:txBody>
      </p:sp>
      <p:sp>
        <p:nvSpPr>
          <p:cNvPr id="19" name="Rectangle 18"/>
          <p:cNvSpPr/>
          <p:nvPr/>
        </p:nvSpPr>
        <p:spPr>
          <a:xfrm>
            <a:off x="548640" y="5349240"/>
            <a:ext cx="82296" cy="74980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30952"/>
            <a:ext cx="3566160" cy="777240"/>
          </a:xfrm>
          <a:prstGeom prst="rect">
            <a:avLst/>
          </a:prstGeom>
          <a:noFill/>
        </p:spPr>
        <p:txBody>
          <a:bodyPr wrap="square" anchor="ctr" lIns="45720" rIns="45720" tIns="27432" bIns="27432">
            <a:spAutoFit/>
          </a:bodyPr>
          <a:lstStyle/>
          <a:p>
            <a:pPr algn="l">
              <a:spcAft>
                <a:spcPts val="600"/>
              </a:spcAft>
            </a:pPr>
            <a:r>
              <a:rPr sz="1900" b="1">
                <a:solidFill>
                  <a:srgbClr val="14306B"/>
                </a:solidFill>
                <a:latin typeface="Calibri"/>
              </a:rPr>
              <a:t>5  Audit fairness at scale</a:t>
            </a:r>
          </a:p>
        </p:txBody>
      </p:sp>
      <p:sp>
        <p:nvSpPr>
          <p:cNvPr id="21" name="TextBox 20"/>
          <p:cNvSpPr txBox="1"/>
          <p:nvPr/>
        </p:nvSpPr>
        <p:spPr>
          <a:xfrm>
            <a:off x="4389120" y="5330952"/>
            <a:ext cx="7315200" cy="777240"/>
          </a:xfrm>
          <a:prstGeom prst="rect">
            <a:avLst/>
          </a:prstGeom>
          <a:noFill/>
        </p:spPr>
        <p:txBody>
          <a:bodyPr wrap="square" anchor="ctr" lIns="45720" rIns="45720" tIns="27432" bIns="27432">
            <a:spAutoFit/>
          </a:bodyPr>
          <a:lstStyle/>
          <a:p>
            <a:pPr algn="l">
              <a:spcAft>
                <a:spcPts val="600"/>
              </a:spcAft>
            </a:pPr>
            <a:r>
              <a:rPr sz="1600" b="0">
                <a:solidFill>
                  <a:srgbClr val="1F2933"/>
                </a:solidFill>
                <a:latin typeface="Calibri"/>
              </a:rPr>
              <a:t>Under-45 accuracy is 86% on 93 patients; confirm or refute on a larger real sample.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
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sldIdLst>
    <p:sldId id="256" r:id="rId5"/>
  </p:sldIdLst>
  <p:sldSz cx="32918400" cy="43891200"/>
  <p:notesSz cx="6858000" cy="9144000"/>
  <p:defaultTextStyle>
    <a:defPPr>
      <a:defRPr lang="en-US"/>
    </a:defPPr>
    <a:lvl1pPr marL="0" algn="l" defTabSz="3686861" rtl="0" eaLnBrk="1" latinLnBrk="0" hangingPunct="1">
      <a:defRPr sz="7258" kern="1200">
        <a:solidFill>
          <a:schemeClr val="tx1"/>
        </a:solidFill>
        <a:latin typeface="+mn-lt"/>
        <a:ea typeface="+mn-ea"/>
        <a:cs typeface="+mn-cs"/>
      </a:defRPr>
    </a:lvl1pPr>
    <a:lvl2pPr marL="1843430" algn="l" defTabSz="3686861" rtl="0" eaLnBrk="1" latinLnBrk="0" hangingPunct="1">
      <a:defRPr sz="7258" kern="1200">
        <a:solidFill>
          <a:schemeClr val="tx1"/>
        </a:solidFill>
        <a:latin typeface="+mn-lt"/>
        <a:ea typeface="+mn-ea"/>
        <a:cs typeface="+mn-cs"/>
      </a:defRPr>
    </a:lvl2pPr>
    <a:lvl3pPr marL="3686861" algn="l" defTabSz="3686861" rtl="0" eaLnBrk="1" latinLnBrk="0" hangingPunct="1">
      <a:defRPr sz="7258" kern="1200">
        <a:solidFill>
          <a:schemeClr val="tx1"/>
        </a:solidFill>
        <a:latin typeface="+mn-lt"/>
        <a:ea typeface="+mn-ea"/>
        <a:cs typeface="+mn-cs"/>
      </a:defRPr>
    </a:lvl3pPr>
    <a:lvl4pPr marL="5530291" algn="l" defTabSz="3686861" rtl="0" eaLnBrk="1" latinLnBrk="0" hangingPunct="1">
      <a:defRPr sz="7258" kern="1200">
        <a:solidFill>
          <a:schemeClr val="tx1"/>
        </a:solidFill>
        <a:latin typeface="+mn-lt"/>
        <a:ea typeface="+mn-ea"/>
        <a:cs typeface="+mn-cs"/>
      </a:defRPr>
    </a:lvl4pPr>
    <a:lvl5pPr marL="7373722" algn="l" defTabSz="3686861" rtl="0" eaLnBrk="1" latinLnBrk="0" hangingPunct="1">
      <a:defRPr sz="7258" kern="1200">
        <a:solidFill>
          <a:schemeClr val="tx1"/>
        </a:solidFill>
        <a:latin typeface="+mn-lt"/>
        <a:ea typeface="+mn-ea"/>
        <a:cs typeface="+mn-cs"/>
      </a:defRPr>
    </a:lvl5pPr>
    <a:lvl6pPr marL="9217152" algn="l" defTabSz="3686861" rtl="0" eaLnBrk="1" latinLnBrk="0" hangingPunct="1">
      <a:defRPr sz="7258" kern="1200">
        <a:solidFill>
          <a:schemeClr val="tx1"/>
        </a:solidFill>
        <a:latin typeface="+mn-lt"/>
        <a:ea typeface="+mn-ea"/>
        <a:cs typeface="+mn-cs"/>
      </a:defRPr>
    </a:lvl6pPr>
    <a:lvl7pPr marL="11060582" algn="l" defTabSz="3686861" rtl="0" eaLnBrk="1" latinLnBrk="0" hangingPunct="1">
      <a:defRPr sz="7258" kern="1200">
        <a:solidFill>
          <a:schemeClr val="tx1"/>
        </a:solidFill>
        <a:latin typeface="+mn-lt"/>
        <a:ea typeface="+mn-ea"/>
        <a:cs typeface="+mn-cs"/>
      </a:defRPr>
    </a:lvl7pPr>
    <a:lvl8pPr marL="12904013" algn="l" defTabSz="3686861" rtl="0" eaLnBrk="1" latinLnBrk="0" hangingPunct="1">
      <a:defRPr sz="7258" kern="1200">
        <a:solidFill>
          <a:schemeClr val="tx1"/>
        </a:solidFill>
        <a:latin typeface="+mn-lt"/>
        <a:ea typeface="+mn-ea"/>
        <a:cs typeface="+mn-cs"/>
      </a:defRPr>
    </a:lvl8pPr>
    <a:lvl9pPr marL="14747443" algn="l" defTabSz="3686861" rtl="0" eaLnBrk="1" latinLnBrk="0" hangingPunct="1">
      <a:defRPr sz="7258"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80334"/>
    <a:srgbClr val="4F2171"/>
    <a:srgbClr val="441D6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DD806B4-9F47-40AB-9C55-77790E060F2F}" v="3" dt="2024-11-12T17:56:15.18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25" d="100"/>
          <a:sy n="25" d="100"/>
        </p:scale>
        <p:origin x="66" y="15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 Id="rId10" Type="http://schemas.microsoft.com/office/2016/11/relationships/changesInfo" Target="changesInfos/changesInfo1.xml"/><Relationship Id="rId11"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chelle Lipp (GCE)" userId="ddad3de7-a67b-433d-94cc-b10c6e15069c" providerId="ADAL" clId="{DDD806B4-9F47-40AB-9C55-77790E060F2F}"/>
    <pc:docChg chg="undo custSel modSld">
      <pc:chgData name="Michelle Lipp (GCE)" userId="ddad3de7-a67b-433d-94cc-b10c6e15069c" providerId="ADAL" clId="{DDD806B4-9F47-40AB-9C55-77790E060F2F}" dt="2024-11-12T17:58:02.137" v="74" actId="20577"/>
      <pc:docMkLst>
        <pc:docMk/>
      </pc:docMkLst>
      <pc:sldChg chg="addSp delSp modSp mod">
        <pc:chgData name="Michelle Lipp (GCE)" userId="ddad3de7-a67b-433d-94cc-b10c6e15069c" providerId="ADAL" clId="{DDD806B4-9F47-40AB-9C55-77790E060F2F}" dt="2024-11-12T17:58:02.137" v="74" actId="20577"/>
        <pc:sldMkLst>
          <pc:docMk/>
          <pc:sldMk cId="3523442882" sldId="256"/>
        </pc:sldMkLst>
        <pc:spChg chg="mod">
          <ac:chgData name="Michelle Lipp (GCE)" userId="ddad3de7-a67b-433d-94cc-b10c6e15069c" providerId="ADAL" clId="{DDD806B4-9F47-40AB-9C55-77790E060F2F}" dt="2024-11-12T17:58:02.137" v="74" actId="20577"/>
          <ac:spMkLst>
            <pc:docMk/>
            <pc:sldMk cId="3523442882" sldId="256"/>
            <ac:spMk id="14" creationId="{00000000-0000-0000-0000-000000000000}"/>
          </ac:spMkLst>
        </pc:spChg>
        <pc:picChg chg="add mod">
          <ac:chgData name="Michelle Lipp (GCE)" userId="ddad3de7-a67b-433d-94cc-b10c6e15069c" providerId="ADAL" clId="{DDD806B4-9F47-40AB-9C55-77790E060F2F}" dt="2024-11-12T17:55:59.732" v="3"/>
          <ac:picMkLst>
            <pc:docMk/>
            <pc:sldMk cId="3523442882" sldId="256"/>
            <ac:picMk id="2" creationId="{42234848-BC68-584A-F1EF-BFDFD4DA8969}"/>
          </ac:picMkLst>
        </pc:picChg>
        <pc:picChg chg="add mod">
          <ac:chgData name="Michelle Lipp (GCE)" userId="ddad3de7-a67b-433d-94cc-b10c6e15069c" providerId="ADAL" clId="{DDD806B4-9F47-40AB-9C55-77790E060F2F}" dt="2024-11-12T17:56:46.077" v="15" actId="1076"/>
          <ac:picMkLst>
            <pc:docMk/>
            <pc:sldMk cId="3523442882" sldId="256"/>
            <ac:picMk id="3" creationId="{5C2C354B-5570-E4E3-B400-F36CB4050B60}"/>
          </ac:picMkLst>
        </pc:picChg>
        <pc:picChg chg="del">
          <ac:chgData name="Michelle Lipp (GCE)" userId="ddad3de7-a67b-433d-94cc-b10c6e15069c" providerId="ADAL" clId="{DDD806B4-9F47-40AB-9C55-77790E060F2F}" dt="2024-11-12T17:56:10.656" v="10" actId="478"/>
          <ac:picMkLst>
            <pc:docMk/>
            <pc:sldMk cId="3523442882" sldId="256"/>
            <ac:picMk id="5" creationId="{00000000-0000-0000-0000-000000000000}"/>
          </ac:picMkLst>
        </pc:picChg>
        <pc:picChg chg="del">
          <ac:chgData name="Michelle Lipp (GCE)" userId="ddad3de7-a67b-433d-94cc-b10c6e15069c" providerId="ADAL" clId="{DDD806B4-9F47-40AB-9C55-77790E060F2F}" dt="2024-11-12T17:56:09.611" v="9" actId="478"/>
          <ac:picMkLst>
            <pc:docMk/>
            <pc:sldMk cId="3523442882" sldId="256"/>
            <ac:picMk id="7" creationId="{00000000-0000-0000-0000-000000000000}"/>
          </ac:picMkLst>
        </pc:picChg>
        <pc:picChg chg="del">
          <ac:chgData name="Michelle Lipp (GCE)" userId="ddad3de7-a67b-433d-94cc-b10c6e15069c" providerId="ADAL" clId="{DDD806B4-9F47-40AB-9C55-77790E060F2F}" dt="2024-11-12T17:56:08.624" v="8" actId="478"/>
          <ac:picMkLst>
            <pc:docMk/>
            <pc:sldMk cId="3523442882" sldId="256"/>
            <ac:picMk id="8" creationId="{00000000-0000-0000-0000-000000000000}"/>
          </ac:picMkLst>
        </pc:picChg>
        <pc:picChg chg="del">
          <ac:chgData name="Michelle Lipp (GCE)" userId="ddad3de7-a67b-433d-94cc-b10c6e15069c" providerId="ADAL" clId="{DDD806B4-9F47-40AB-9C55-77790E060F2F}" dt="2024-11-12T17:56:07.752" v="7" actId="478"/>
          <ac:picMkLst>
            <pc:docMk/>
            <pc:sldMk cId="3523442882" sldId="256"/>
            <ac:picMk id="9" creationId="{00000000-0000-0000-0000-000000000000}"/>
          </ac:picMkLst>
        </pc:picChg>
        <pc:picChg chg="del">
          <ac:chgData name="Michelle Lipp (GCE)" userId="ddad3de7-a67b-433d-94cc-b10c6e15069c" providerId="ADAL" clId="{DDD806B4-9F47-40AB-9C55-77790E060F2F}" dt="2024-11-12T17:56:06.789" v="6" actId="478"/>
          <ac:picMkLst>
            <pc:docMk/>
            <pc:sldMk cId="3523442882" sldId="256"/>
            <ac:picMk id="10" creationId="{00000000-0000-0000-0000-000000000000}"/>
          </ac:picMkLst>
        </pc:picChg>
        <pc:picChg chg="del">
          <ac:chgData name="Michelle Lipp (GCE)" userId="ddad3de7-a67b-433d-94cc-b10c6e15069c" providerId="ADAL" clId="{DDD806B4-9F47-40AB-9C55-77790E060F2F}" dt="2024-11-12T17:56:05.874" v="5" actId="478"/>
          <ac:picMkLst>
            <pc:docMk/>
            <pc:sldMk cId="3523442882" sldId="256"/>
            <ac:picMk id="11" creationId="{00000000-0000-0000-0000-000000000000}"/>
          </ac:picMkLst>
        </pc:picChg>
        <pc:picChg chg="del">
          <ac:chgData name="Michelle Lipp (GCE)" userId="ddad3de7-a67b-433d-94cc-b10c6e15069c" providerId="ADAL" clId="{DDD806B4-9F47-40AB-9C55-77790E060F2F}" dt="2024-11-12T17:56:04.113" v="4" actId="478"/>
          <ac:picMkLst>
            <pc:docMk/>
            <pc:sldMk cId="3523442882" sldId="256"/>
            <ac:picMk id="12" creationId="{00000000-0000-0000-0000-000000000000}"/>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68880" y="7183123"/>
            <a:ext cx="27980640" cy="15280640"/>
          </a:xfrm>
        </p:spPr>
        <p:txBody>
          <a:bodyPr anchor="b"/>
          <a:lstStyle>
            <a:lvl1pPr algn="ctr">
              <a:defRPr sz="21600"/>
            </a:lvl1pPr>
          </a:lstStyle>
          <a:p>
            <a:r>
              <a:rPr lang="en-US"/>
              <a:t>Click to edit Master title style</a:t>
            </a:r>
            <a:endParaRPr lang="en-US" dirty="0"/>
          </a:p>
        </p:txBody>
      </p:sp>
      <p:sp>
        <p:nvSpPr>
          <p:cNvPr id="3" name="Subtitle 2"/>
          <p:cNvSpPr>
            <a:spLocks noGrp="1"/>
          </p:cNvSpPr>
          <p:nvPr>
            <p:ph type="subTitle" idx="1"/>
          </p:nvPr>
        </p:nvSpPr>
        <p:spPr>
          <a:xfrm>
            <a:off x="4114800" y="23053043"/>
            <a:ext cx="24688800" cy="10596877"/>
          </a:xfrm>
        </p:spPr>
        <p:txBody>
          <a:bodyPr/>
          <a:lstStyle>
            <a:lvl1pPr marL="0" indent="0" algn="ctr">
              <a:buNone/>
              <a:defRPr sz="8640"/>
            </a:lvl1pPr>
            <a:lvl2pPr marL="1645920" indent="0" algn="ctr">
              <a:buNone/>
              <a:defRPr sz="7200"/>
            </a:lvl2pPr>
            <a:lvl3pPr marL="3291840" indent="0" algn="ctr">
              <a:buNone/>
              <a:defRPr sz="6480"/>
            </a:lvl3pPr>
            <a:lvl4pPr marL="4937760" indent="0" algn="ctr">
              <a:buNone/>
              <a:defRPr sz="5760"/>
            </a:lvl4pPr>
            <a:lvl5pPr marL="6583680" indent="0" algn="ctr">
              <a:buNone/>
              <a:defRPr sz="5760"/>
            </a:lvl5pPr>
            <a:lvl6pPr marL="8229600" indent="0" algn="ctr">
              <a:buNone/>
              <a:defRPr sz="5760"/>
            </a:lvl6pPr>
            <a:lvl7pPr marL="9875520" indent="0" algn="ctr">
              <a:buNone/>
              <a:defRPr sz="5760"/>
            </a:lvl7pPr>
            <a:lvl8pPr marL="11521440" indent="0" algn="ctr">
              <a:buNone/>
              <a:defRPr sz="5760"/>
            </a:lvl8pPr>
            <a:lvl9pPr marL="13167360" indent="0" algn="ctr">
              <a:buNone/>
              <a:defRPr sz="576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8B11913-F300-43E2-BF3B-5FB217FBE680}" type="datetimeFigureOut">
              <a:rPr lang="en-US" smtClean="0"/>
              <a:t>11/12/2024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09FF95B-D2DD-4417-868C-7EF45FA96897}" type="slidenum">
              <a:rPr lang="en-US" smtClean="0"/>
              <a:t>‹#›</a:t>
            </a:fld>
            <a:endParaRPr lang="en-US"/>
          </a:p>
        </p:txBody>
      </p:sp>
    </p:spTree>
    <p:extLst>
      <p:ext uri="{BB962C8B-B14F-4D97-AF65-F5344CB8AC3E}">
        <p14:creationId xmlns:p14="http://schemas.microsoft.com/office/powerpoint/2010/main" val="29067730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8B11913-F300-43E2-BF3B-5FB217FBE680}" type="datetimeFigureOut">
              <a:rPr lang="en-US" smtClean="0"/>
              <a:t>11/12/2024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09FF95B-D2DD-4417-868C-7EF45FA96897}" type="slidenum">
              <a:rPr lang="en-US" smtClean="0"/>
              <a:t>‹#›</a:t>
            </a:fld>
            <a:endParaRPr lang="en-US"/>
          </a:p>
        </p:txBody>
      </p:sp>
    </p:spTree>
    <p:extLst>
      <p:ext uri="{BB962C8B-B14F-4D97-AF65-F5344CB8AC3E}">
        <p14:creationId xmlns:p14="http://schemas.microsoft.com/office/powerpoint/2010/main" val="445933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245997" y="10942333"/>
            <a:ext cx="28392120" cy="18257517"/>
          </a:xfrm>
        </p:spPr>
        <p:txBody>
          <a:bodyPr anchor="b"/>
          <a:lstStyle>
            <a:lvl1pPr>
              <a:defRPr sz="21600"/>
            </a:lvl1pPr>
          </a:lstStyle>
          <a:p>
            <a:r>
              <a:rPr lang="en-US"/>
              <a:t>Click to edit Master title style</a:t>
            </a:r>
            <a:endParaRPr lang="en-US" dirty="0"/>
          </a:p>
        </p:txBody>
      </p:sp>
      <p:sp>
        <p:nvSpPr>
          <p:cNvPr id="3" name="Text Placeholder 2"/>
          <p:cNvSpPr>
            <a:spLocks noGrp="1"/>
          </p:cNvSpPr>
          <p:nvPr>
            <p:ph type="body" idx="1"/>
          </p:nvPr>
        </p:nvSpPr>
        <p:spPr>
          <a:xfrm>
            <a:off x="2245997" y="29372573"/>
            <a:ext cx="28392120" cy="9601197"/>
          </a:xfrm>
        </p:spPr>
        <p:txBody>
          <a:bodyPr/>
          <a:lstStyle>
            <a:lvl1pPr marL="0" indent="0">
              <a:buNone/>
              <a:defRPr sz="8640">
                <a:solidFill>
                  <a:schemeClr val="tx1"/>
                </a:solidFill>
              </a:defRPr>
            </a:lvl1pPr>
            <a:lvl2pPr marL="1645920" indent="0">
              <a:buNone/>
              <a:defRPr sz="7200">
                <a:solidFill>
                  <a:schemeClr val="tx1">
                    <a:tint val="75000"/>
                  </a:schemeClr>
                </a:solidFill>
              </a:defRPr>
            </a:lvl2pPr>
            <a:lvl3pPr marL="3291840" indent="0">
              <a:buNone/>
              <a:defRPr sz="6480">
                <a:solidFill>
                  <a:schemeClr val="tx1">
                    <a:tint val="75000"/>
                  </a:schemeClr>
                </a:solidFill>
              </a:defRPr>
            </a:lvl3pPr>
            <a:lvl4pPr marL="4937760" indent="0">
              <a:buNone/>
              <a:defRPr sz="5760">
                <a:solidFill>
                  <a:schemeClr val="tx1">
                    <a:tint val="75000"/>
                  </a:schemeClr>
                </a:solidFill>
              </a:defRPr>
            </a:lvl4pPr>
            <a:lvl5pPr marL="6583680" indent="0">
              <a:buNone/>
              <a:defRPr sz="5760">
                <a:solidFill>
                  <a:schemeClr val="tx1">
                    <a:tint val="75000"/>
                  </a:schemeClr>
                </a:solidFill>
              </a:defRPr>
            </a:lvl5pPr>
            <a:lvl6pPr marL="8229600" indent="0">
              <a:buNone/>
              <a:defRPr sz="5760">
                <a:solidFill>
                  <a:schemeClr val="tx1">
                    <a:tint val="75000"/>
                  </a:schemeClr>
                </a:solidFill>
              </a:defRPr>
            </a:lvl6pPr>
            <a:lvl7pPr marL="9875520" indent="0">
              <a:buNone/>
              <a:defRPr sz="5760">
                <a:solidFill>
                  <a:schemeClr val="tx1">
                    <a:tint val="75000"/>
                  </a:schemeClr>
                </a:solidFill>
              </a:defRPr>
            </a:lvl7pPr>
            <a:lvl8pPr marL="11521440" indent="0">
              <a:buNone/>
              <a:defRPr sz="5760">
                <a:solidFill>
                  <a:schemeClr val="tx1">
                    <a:tint val="75000"/>
                  </a:schemeClr>
                </a:solidFill>
              </a:defRPr>
            </a:lvl8pPr>
            <a:lvl9pPr marL="13167360" indent="0">
              <a:buNone/>
              <a:defRPr sz="576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8B11913-F300-43E2-BF3B-5FB217FBE680}" type="datetimeFigureOut">
              <a:rPr lang="en-US" smtClean="0"/>
              <a:t>11/12/2024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09FF95B-D2DD-4417-868C-7EF45FA96897}" type="slidenum">
              <a:rPr lang="en-US" smtClean="0"/>
              <a:t>‹#›</a:t>
            </a:fld>
            <a:endParaRPr lang="en-US"/>
          </a:p>
        </p:txBody>
      </p:sp>
    </p:spTree>
    <p:extLst>
      <p:ext uri="{BB962C8B-B14F-4D97-AF65-F5344CB8AC3E}">
        <p14:creationId xmlns:p14="http://schemas.microsoft.com/office/powerpoint/2010/main" val="39622593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263140" y="11684000"/>
            <a:ext cx="13990320" cy="278485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6664940" y="11684000"/>
            <a:ext cx="13990320" cy="278485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8B11913-F300-43E2-BF3B-5FB217FBE680}" type="datetimeFigureOut">
              <a:rPr lang="en-US" smtClean="0"/>
              <a:t>11/12/2024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09FF95B-D2DD-4417-868C-7EF45FA96897}" type="slidenum">
              <a:rPr lang="en-US" smtClean="0"/>
              <a:t>‹#›</a:t>
            </a:fld>
            <a:endParaRPr lang="en-US"/>
          </a:p>
        </p:txBody>
      </p:sp>
    </p:spTree>
    <p:extLst>
      <p:ext uri="{BB962C8B-B14F-4D97-AF65-F5344CB8AC3E}">
        <p14:creationId xmlns:p14="http://schemas.microsoft.com/office/powerpoint/2010/main" val="24532798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267428" y="2336810"/>
            <a:ext cx="28392120" cy="8483603"/>
          </a:xfrm>
        </p:spPr>
        <p:txBody>
          <a:bodyPr/>
          <a:lstStyle/>
          <a:p>
            <a:r>
              <a:rPr lang="en-US"/>
              <a:t>Click to edit Master title style</a:t>
            </a:r>
            <a:endParaRPr lang="en-US" dirty="0"/>
          </a:p>
        </p:txBody>
      </p:sp>
      <p:sp>
        <p:nvSpPr>
          <p:cNvPr id="3" name="Text Placeholder 2"/>
          <p:cNvSpPr>
            <a:spLocks noGrp="1"/>
          </p:cNvSpPr>
          <p:nvPr>
            <p:ph type="body" idx="1"/>
          </p:nvPr>
        </p:nvSpPr>
        <p:spPr>
          <a:xfrm>
            <a:off x="2267431" y="10759443"/>
            <a:ext cx="13926024" cy="5273037"/>
          </a:xfrm>
        </p:spPr>
        <p:txBody>
          <a:bodyPr anchor="b"/>
          <a:lstStyle>
            <a:lvl1pPr marL="0" indent="0">
              <a:buNone/>
              <a:defRPr sz="8640" b="1"/>
            </a:lvl1pPr>
            <a:lvl2pPr marL="1645920" indent="0">
              <a:buNone/>
              <a:defRPr sz="7200" b="1"/>
            </a:lvl2pPr>
            <a:lvl3pPr marL="3291840" indent="0">
              <a:buNone/>
              <a:defRPr sz="6480" b="1"/>
            </a:lvl3pPr>
            <a:lvl4pPr marL="4937760" indent="0">
              <a:buNone/>
              <a:defRPr sz="5760" b="1"/>
            </a:lvl4pPr>
            <a:lvl5pPr marL="6583680" indent="0">
              <a:buNone/>
              <a:defRPr sz="5760" b="1"/>
            </a:lvl5pPr>
            <a:lvl6pPr marL="8229600" indent="0">
              <a:buNone/>
              <a:defRPr sz="5760" b="1"/>
            </a:lvl6pPr>
            <a:lvl7pPr marL="9875520" indent="0">
              <a:buNone/>
              <a:defRPr sz="5760" b="1"/>
            </a:lvl7pPr>
            <a:lvl8pPr marL="11521440" indent="0">
              <a:buNone/>
              <a:defRPr sz="5760" b="1"/>
            </a:lvl8pPr>
            <a:lvl9pPr marL="13167360" indent="0">
              <a:buNone/>
              <a:defRPr sz="5760" b="1"/>
            </a:lvl9pPr>
          </a:lstStyle>
          <a:p>
            <a:pPr lvl="0"/>
            <a:r>
              <a:rPr lang="en-US"/>
              <a:t>Click to edit Master text styles</a:t>
            </a:r>
          </a:p>
        </p:txBody>
      </p:sp>
      <p:sp>
        <p:nvSpPr>
          <p:cNvPr id="4" name="Content Placeholder 3"/>
          <p:cNvSpPr>
            <a:spLocks noGrp="1"/>
          </p:cNvSpPr>
          <p:nvPr>
            <p:ph sz="half" idx="2"/>
          </p:nvPr>
        </p:nvSpPr>
        <p:spPr>
          <a:xfrm>
            <a:off x="2267431" y="16032480"/>
            <a:ext cx="13926024" cy="235813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6664942" y="10759443"/>
            <a:ext cx="13994608" cy="5273037"/>
          </a:xfrm>
        </p:spPr>
        <p:txBody>
          <a:bodyPr anchor="b"/>
          <a:lstStyle>
            <a:lvl1pPr marL="0" indent="0">
              <a:buNone/>
              <a:defRPr sz="8640" b="1"/>
            </a:lvl1pPr>
            <a:lvl2pPr marL="1645920" indent="0">
              <a:buNone/>
              <a:defRPr sz="7200" b="1"/>
            </a:lvl2pPr>
            <a:lvl3pPr marL="3291840" indent="0">
              <a:buNone/>
              <a:defRPr sz="6480" b="1"/>
            </a:lvl3pPr>
            <a:lvl4pPr marL="4937760" indent="0">
              <a:buNone/>
              <a:defRPr sz="5760" b="1"/>
            </a:lvl4pPr>
            <a:lvl5pPr marL="6583680" indent="0">
              <a:buNone/>
              <a:defRPr sz="5760" b="1"/>
            </a:lvl5pPr>
            <a:lvl6pPr marL="8229600" indent="0">
              <a:buNone/>
              <a:defRPr sz="5760" b="1"/>
            </a:lvl6pPr>
            <a:lvl7pPr marL="9875520" indent="0">
              <a:buNone/>
              <a:defRPr sz="5760" b="1"/>
            </a:lvl7pPr>
            <a:lvl8pPr marL="11521440" indent="0">
              <a:buNone/>
              <a:defRPr sz="5760" b="1"/>
            </a:lvl8pPr>
            <a:lvl9pPr marL="13167360" indent="0">
              <a:buNone/>
              <a:defRPr sz="5760" b="1"/>
            </a:lvl9pPr>
          </a:lstStyle>
          <a:p>
            <a:pPr lvl="0"/>
            <a:r>
              <a:rPr lang="en-US"/>
              <a:t>Click to edit Master text styles</a:t>
            </a:r>
          </a:p>
        </p:txBody>
      </p:sp>
      <p:sp>
        <p:nvSpPr>
          <p:cNvPr id="6" name="Content Placeholder 5"/>
          <p:cNvSpPr>
            <a:spLocks noGrp="1"/>
          </p:cNvSpPr>
          <p:nvPr>
            <p:ph sz="quarter" idx="4"/>
          </p:nvPr>
        </p:nvSpPr>
        <p:spPr>
          <a:xfrm>
            <a:off x="16664942" y="16032480"/>
            <a:ext cx="13994608" cy="235813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8B11913-F300-43E2-BF3B-5FB217FBE680}" type="datetimeFigureOut">
              <a:rPr lang="en-US" smtClean="0"/>
              <a:t>11/12/2024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09FF95B-D2DD-4417-868C-7EF45FA96897}" type="slidenum">
              <a:rPr lang="en-US" smtClean="0"/>
              <a:t>‹#›</a:t>
            </a:fld>
            <a:endParaRPr lang="en-US"/>
          </a:p>
        </p:txBody>
      </p:sp>
    </p:spTree>
    <p:extLst>
      <p:ext uri="{BB962C8B-B14F-4D97-AF65-F5344CB8AC3E}">
        <p14:creationId xmlns:p14="http://schemas.microsoft.com/office/powerpoint/2010/main" val="37168523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8B11913-F300-43E2-BF3B-5FB217FBE680}" type="datetimeFigureOut">
              <a:rPr lang="en-US" smtClean="0"/>
              <a:t>11/12/2024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09FF95B-D2DD-4417-868C-7EF45FA96897}" type="slidenum">
              <a:rPr lang="en-US" smtClean="0"/>
              <a:t>‹#›</a:t>
            </a:fld>
            <a:endParaRPr lang="en-US"/>
          </a:p>
        </p:txBody>
      </p:sp>
    </p:spTree>
    <p:extLst>
      <p:ext uri="{BB962C8B-B14F-4D97-AF65-F5344CB8AC3E}">
        <p14:creationId xmlns:p14="http://schemas.microsoft.com/office/powerpoint/2010/main" val="8720036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8B11913-F300-43E2-BF3B-5FB217FBE680}" type="datetimeFigureOut">
              <a:rPr lang="en-US" smtClean="0"/>
              <a:t>11/12/2024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09FF95B-D2DD-4417-868C-7EF45FA96897}" type="slidenum">
              <a:rPr lang="en-US" smtClean="0"/>
              <a:t>‹#›</a:t>
            </a:fld>
            <a:endParaRPr lang="en-US"/>
          </a:p>
        </p:txBody>
      </p:sp>
    </p:spTree>
    <p:extLst>
      <p:ext uri="{BB962C8B-B14F-4D97-AF65-F5344CB8AC3E}">
        <p14:creationId xmlns:p14="http://schemas.microsoft.com/office/powerpoint/2010/main" val="19217063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267428" y="2926080"/>
            <a:ext cx="10617041" cy="10241280"/>
          </a:xfrm>
        </p:spPr>
        <p:txBody>
          <a:bodyPr anchor="b"/>
          <a:lstStyle>
            <a:lvl1pPr>
              <a:defRPr sz="11520"/>
            </a:lvl1pPr>
          </a:lstStyle>
          <a:p>
            <a:r>
              <a:rPr lang="en-US"/>
              <a:t>Click to edit Master title style</a:t>
            </a:r>
            <a:endParaRPr lang="en-US" dirty="0"/>
          </a:p>
        </p:txBody>
      </p:sp>
      <p:sp>
        <p:nvSpPr>
          <p:cNvPr id="3" name="Content Placeholder 2"/>
          <p:cNvSpPr>
            <a:spLocks noGrp="1"/>
          </p:cNvSpPr>
          <p:nvPr>
            <p:ph idx="1"/>
          </p:nvPr>
        </p:nvSpPr>
        <p:spPr>
          <a:xfrm>
            <a:off x="13994608" y="6319530"/>
            <a:ext cx="16664940" cy="31191200"/>
          </a:xfrm>
        </p:spPr>
        <p:txBody>
          <a:bodyPr/>
          <a:lstStyle>
            <a:lvl1pPr>
              <a:defRPr sz="11520"/>
            </a:lvl1pPr>
            <a:lvl2pPr>
              <a:defRPr sz="10080"/>
            </a:lvl2pPr>
            <a:lvl3pPr>
              <a:defRPr sz="8640"/>
            </a:lvl3pPr>
            <a:lvl4pPr>
              <a:defRPr sz="7200"/>
            </a:lvl4pPr>
            <a:lvl5pPr>
              <a:defRPr sz="7200"/>
            </a:lvl5pPr>
            <a:lvl6pPr>
              <a:defRPr sz="7200"/>
            </a:lvl6pPr>
            <a:lvl7pPr>
              <a:defRPr sz="7200"/>
            </a:lvl7pPr>
            <a:lvl8pPr>
              <a:defRPr sz="7200"/>
            </a:lvl8pPr>
            <a:lvl9pPr>
              <a:defRPr sz="7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267428" y="13167360"/>
            <a:ext cx="10617041" cy="24394163"/>
          </a:xfrm>
        </p:spPr>
        <p:txBody>
          <a:bodyPr/>
          <a:lstStyle>
            <a:lvl1pPr marL="0" indent="0">
              <a:buNone/>
              <a:defRPr sz="5760"/>
            </a:lvl1pPr>
            <a:lvl2pPr marL="1645920" indent="0">
              <a:buNone/>
              <a:defRPr sz="5040"/>
            </a:lvl2pPr>
            <a:lvl3pPr marL="3291840" indent="0">
              <a:buNone/>
              <a:defRPr sz="4320"/>
            </a:lvl3pPr>
            <a:lvl4pPr marL="4937760" indent="0">
              <a:buNone/>
              <a:defRPr sz="3600"/>
            </a:lvl4pPr>
            <a:lvl5pPr marL="6583680" indent="0">
              <a:buNone/>
              <a:defRPr sz="3600"/>
            </a:lvl5pPr>
            <a:lvl6pPr marL="8229600" indent="0">
              <a:buNone/>
              <a:defRPr sz="3600"/>
            </a:lvl6pPr>
            <a:lvl7pPr marL="9875520" indent="0">
              <a:buNone/>
              <a:defRPr sz="3600"/>
            </a:lvl7pPr>
            <a:lvl8pPr marL="11521440" indent="0">
              <a:buNone/>
              <a:defRPr sz="3600"/>
            </a:lvl8pPr>
            <a:lvl9pPr marL="13167360" indent="0">
              <a:buNone/>
              <a:defRPr sz="3600"/>
            </a:lvl9pPr>
          </a:lstStyle>
          <a:p>
            <a:pPr lvl="0"/>
            <a:r>
              <a:rPr lang="en-US"/>
              <a:t>Click to edit Master text styles</a:t>
            </a:r>
          </a:p>
        </p:txBody>
      </p:sp>
      <p:sp>
        <p:nvSpPr>
          <p:cNvPr id="5" name="Date Placeholder 4"/>
          <p:cNvSpPr>
            <a:spLocks noGrp="1"/>
          </p:cNvSpPr>
          <p:nvPr>
            <p:ph type="dt" sz="half" idx="10"/>
          </p:nvPr>
        </p:nvSpPr>
        <p:spPr/>
        <p:txBody>
          <a:bodyPr/>
          <a:lstStyle/>
          <a:p>
            <a:fld id="{28B11913-F300-43E2-BF3B-5FB217FBE680}" type="datetimeFigureOut">
              <a:rPr lang="en-US" smtClean="0"/>
              <a:t>11/12/2024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09FF95B-D2DD-4417-868C-7EF45FA96897}" type="slidenum">
              <a:rPr lang="en-US" smtClean="0"/>
              <a:t>‹#›</a:t>
            </a:fld>
            <a:endParaRPr lang="en-US"/>
          </a:p>
        </p:txBody>
      </p:sp>
    </p:spTree>
    <p:extLst>
      <p:ext uri="{BB962C8B-B14F-4D97-AF65-F5344CB8AC3E}">
        <p14:creationId xmlns:p14="http://schemas.microsoft.com/office/powerpoint/2010/main" val="34808311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267428" y="2926080"/>
            <a:ext cx="10617041" cy="10241280"/>
          </a:xfrm>
        </p:spPr>
        <p:txBody>
          <a:bodyPr anchor="b"/>
          <a:lstStyle>
            <a:lvl1pPr>
              <a:defRPr sz="1152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994608" y="6319530"/>
            <a:ext cx="16664940" cy="31191200"/>
          </a:xfrm>
        </p:spPr>
        <p:txBody>
          <a:bodyPr anchor="t"/>
          <a:lstStyle>
            <a:lvl1pPr marL="0" indent="0">
              <a:buNone/>
              <a:defRPr sz="11520"/>
            </a:lvl1pPr>
            <a:lvl2pPr marL="1645920" indent="0">
              <a:buNone/>
              <a:defRPr sz="10080"/>
            </a:lvl2pPr>
            <a:lvl3pPr marL="3291840" indent="0">
              <a:buNone/>
              <a:defRPr sz="8640"/>
            </a:lvl3pPr>
            <a:lvl4pPr marL="4937760" indent="0">
              <a:buNone/>
              <a:defRPr sz="7200"/>
            </a:lvl4pPr>
            <a:lvl5pPr marL="6583680" indent="0">
              <a:buNone/>
              <a:defRPr sz="7200"/>
            </a:lvl5pPr>
            <a:lvl6pPr marL="8229600" indent="0">
              <a:buNone/>
              <a:defRPr sz="7200"/>
            </a:lvl6pPr>
            <a:lvl7pPr marL="9875520" indent="0">
              <a:buNone/>
              <a:defRPr sz="7200"/>
            </a:lvl7pPr>
            <a:lvl8pPr marL="11521440" indent="0">
              <a:buNone/>
              <a:defRPr sz="7200"/>
            </a:lvl8pPr>
            <a:lvl9pPr marL="13167360" indent="0">
              <a:buNone/>
              <a:defRPr sz="7200"/>
            </a:lvl9pPr>
          </a:lstStyle>
          <a:p>
            <a:r>
              <a:rPr lang="en-US"/>
              <a:t>Click icon to add picture</a:t>
            </a:r>
            <a:endParaRPr lang="en-US" dirty="0"/>
          </a:p>
        </p:txBody>
      </p:sp>
      <p:sp>
        <p:nvSpPr>
          <p:cNvPr id="4" name="Text Placeholder 3"/>
          <p:cNvSpPr>
            <a:spLocks noGrp="1"/>
          </p:cNvSpPr>
          <p:nvPr>
            <p:ph type="body" sz="half" idx="2"/>
          </p:nvPr>
        </p:nvSpPr>
        <p:spPr>
          <a:xfrm>
            <a:off x="2267428" y="13167360"/>
            <a:ext cx="10617041" cy="24394163"/>
          </a:xfrm>
        </p:spPr>
        <p:txBody>
          <a:bodyPr/>
          <a:lstStyle>
            <a:lvl1pPr marL="0" indent="0">
              <a:buNone/>
              <a:defRPr sz="5760"/>
            </a:lvl1pPr>
            <a:lvl2pPr marL="1645920" indent="0">
              <a:buNone/>
              <a:defRPr sz="5040"/>
            </a:lvl2pPr>
            <a:lvl3pPr marL="3291840" indent="0">
              <a:buNone/>
              <a:defRPr sz="4320"/>
            </a:lvl3pPr>
            <a:lvl4pPr marL="4937760" indent="0">
              <a:buNone/>
              <a:defRPr sz="3600"/>
            </a:lvl4pPr>
            <a:lvl5pPr marL="6583680" indent="0">
              <a:buNone/>
              <a:defRPr sz="3600"/>
            </a:lvl5pPr>
            <a:lvl6pPr marL="8229600" indent="0">
              <a:buNone/>
              <a:defRPr sz="3600"/>
            </a:lvl6pPr>
            <a:lvl7pPr marL="9875520" indent="0">
              <a:buNone/>
              <a:defRPr sz="3600"/>
            </a:lvl7pPr>
            <a:lvl8pPr marL="11521440" indent="0">
              <a:buNone/>
              <a:defRPr sz="3600"/>
            </a:lvl8pPr>
            <a:lvl9pPr marL="13167360" indent="0">
              <a:buNone/>
              <a:defRPr sz="3600"/>
            </a:lvl9pPr>
          </a:lstStyle>
          <a:p>
            <a:pPr lvl="0"/>
            <a:r>
              <a:rPr lang="en-US"/>
              <a:t>Click to edit Master text styles</a:t>
            </a:r>
          </a:p>
        </p:txBody>
      </p:sp>
      <p:sp>
        <p:nvSpPr>
          <p:cNvPr id="5" name="Date Placeholder 4"/>
          <p:cNvSpPr>
            <a:spLocks noGrp="1"/>
          </p:cNvSpPr>
          <p:nvPr>
            <p:ph type="dt" sz="half" idx="10"/>
          </p:nvPr>
        </p:nvSpPr>
        <p:spPr/>
        <p:txBody>
          <a:bodyPr/>
          <a:lstStyle/>
          <a:p>
            <a:fld id="{28B11913-F300-43E2-BF3B-5FB217FBE680}" type="datetimeFigureOut">
              <a:rPr lang="en-US" smtClean="0"/>
              <a:t>11/12/2024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09FF95B-D2DD-4417-868C-7EF45FA96897}" type="slidenum">
              <a:rPr lang="en-US" smtClean="0"/>
              <a:t>‹#›</a:t>
            </a:fld>
            <a:endParaRPr lang="en-US"/>
          </a:p>
        </p:txBody>
      </p:sp>
    </p:spTree>
    <p:extLst>
      <p:ext uri="{BB962C8B-B14F-4D97-AF65-F5344CB8AC3E}">
        <p14:creationId xmlns:p14="http://schemas.microsoft.com/office/powerpoint/2010/main" val="12513054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8B11913-F300-43E2-BF3B-5FB217FBE680}" type="datetimeFigureOut">
              <a:rPr lang="en-US" smtClean="0"/>
              <a:t>11/12/2024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09FF95B-D2DD-4417-868C-7EF45FA96897}" type="slidenum">
              <a:rPr lang="en-US" smtClean="0"/>
              <a:t>‹#›</a:t>
            </a:fld>
            <a:endParaRPr lang="en-US"/>
          </a:p>
        </p:txBody>
      </p:sp>
    </p:spTree>
    <p:extLst>
      <p:ext uri="{BB962C8B-B14F-4D97-AF65-F5344CB8AC3E}">
        <p14:creationId xmlns:p14="http://schemas.microsoft.com/office/powerpoint/2010/main" val="25498914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3557232" y="2336800"/>
            <a:ext cx="7098030" cy="3719576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63142" y="2336800"/>
            <a:ext cx="20882610" cy="371957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8B11913-F300-43E2-BF3B-5FB217FBE680}" type="datetimeFigureOut">
              <a:rPr lang="en-US" smtClean="0"/>
              <a:t>11/12/2024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09FF95B-D2DD-4417-868C-7EF45FA96897}" type="slidenum">
              <a:rPr lang="en-US" smtClean="0"/>
              <a:t>‹#›</a:t>
            </a:fld>
            <a:endParaRPr lang="en-US"/>
          </a:p>
        </p:txBody>
      </p:sp>
    </p:spTree>
    <p:extLst>
      <p:ext uri="{BB962C8B-B14F-4D97-AF65-F5344CB8AC3E}">
        <p14:creationId xmlns:p14="http://schemas.microsoft.com/office/powerpoint/2010/main" val="158642180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263140" y="2336810"/>
            <a:ext cx="28392120" cy="848360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63140" y="11684000"/>
            <a:ext cx="28392120" cy="278485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263140" y="40680650"/>
            <a:ext cx="7406640" cy="2336800"/>
          </a:xfrm>
          <a:prstGeom prst="rect">
            <a:avLst/>
          </a:prstGeom>
        </p:spPr>
        <p:txBody>
          <a:bodyPr vert="horz" lIns="91440" tIns="45720" rIns="91440" bIns="45720" rtlCol="0" anchor="ctr"/>
          <a:lstStyle>
            <a:lvl1pPr algn="l">
              <a:defRPr sz="4320">
                <a:solidFill>
                  <a:schemeClr val="tx1">
                    <a:tint val="75000"/>
                  </a:schemeClr>
                </a:solidFill>
              </a:defRPr>
            </a:lvl1pPr>
          </a:lstStyle>
          <a:p>
            <a:fld id="{28B11913-F300-43E2-BF3B-5FB217FBE680}" type="datetimeFigureOut">
              <a:rPr lang="en-US" smtClean="0"/>
              <a:t>11/12/2024</a:t>
            </a:fld>
            <a:endParaRPr lang="en-US"/>
          </a:p>
        </p:txBody>
      </p:sp>
      <p:sp>
        <p:nvSpPr>
          <p:cNvPr id="5" name="Footer Placeholder 4"/>
          <p:cNvSpPr>
            <a:spLocks noGrp="1"/>
          </p:cNvSpPr>
          <p:nvPr>
            <p:ph type="ftr" sz="quarter" idx="3"/>
          </p:nvPr>
        </p:nvSpPr>
        <p:spPr>
          <a:xfrm>
            <a:off x="10904220" y="40680650"/>
            <a:ext cx="11109960" cy="2336800"/>
          </a:xfrm>
          <a:prstGeom prst="rect">
            <a:avLst/>
          </a:prstGeom>
        </p:spPr>
        <p:txBody>
          <a:bodyPr vert="horz" lIns="91440" tIns="45720" rIns="91440" bIns="45720" rtlCol="0" anchor="ctr"/>
          <a:lstStyle>
            <a:lvl1pPr algn="ctr">
              <a:defRPr sz="432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23248620" y="40680650"/>
            <a:ext cx="7406640" cy="2336800"/>
          </a:xfrm>
          <a:prstGeom prst="rect">
            <a:avLst/>
          </a:prstGeom>
        </p:spPr>
        <p:txBody>
          <a:bodyPr vert="horz" lIns="91440" tIns="45720" rIns="91440" bIns="45720" rtlCol="0" anchor="ctr"/>
          <a:lstStyle>
            <a:lvl1pPr algn="r">
              <a:defRPr sz="4320">
                <a:solidFill>
                  <a:schemeClr val="tx1">
                    <a:tint val="75000"/>
                  </a:schemeClr>
                </a:solidFill>
              </a:defRPr>
            </a:lvl1pPr>
          </a:lstStyle>
          <a:p>
            <a:fld id="{309FF95B-D2DD-4417-868C-7EF45FA96897}" type="slidenum">
              <a:rPr lang="en-US" smtClean="0"/>
              <a:t>‹#›</a:t>
            </a:fld>
            <a:endParaRPr lang="en-US"/>
          </a:p>
        </p:txBody>
      </p:sp>
    </p:spTree>
    <p:extLst>
      <p:ext uri="{BB962C8B-B14F-4D97-AF65-F5344CB8AC3E}">
        <p14:creationId xmlns:p14="http://schemas.microsoft.com/office/powerpoint/2010/main" val="377729070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3291840" rtl="0" eaLnBrk="1" latinLnBrk="0" hangingPunct="1">
        <a:lnSpc>
          <a:spcPct val="90000"/>
        </a:lnSpc>
        <a:spcBef>
          <a:spcPct val="0"/>
        </a:spcBef>
        <a:buNone/>
        <a:defRPr sz="15840" kern="1200">
          <a:solidFill>
            <a:schemeClr val="tx1"/>
          </a:solidFill>
          <a:latin typeface="+mj-lt"/>
          <a:ea typeface="+mj-ea"/>
          <a:cs typeface="+mj-cs"/>
        </a:defRPr>
      </a:lvl1pPr>
    </p:titleStyle>
    <p:bodyStyle>
      <a:lvl1pPr marL="822960" indent="-822960" algn="l" defTabSz="3291840" rtl="0" eaLnBrk="1" latinLnBrk="0" hangingPunct="1">
        <a:lnSpc>
          <a:spcPct val="90000"/>
        </a:lnSpc>
        <a:spcBef>
          <a:spcPts val="3600"/>
        </a:spcBef>
        <a:buFont typeface="Arial" panose="020B0604020202020204" pitchFamily="34" charset="0"/>
        <a:buChar char="•"/>
        <a:defRPr sz="10080" kern="1200">
          <a:solidFill>
            <a:schemeClr val="tx1"/>
          </a:solidFill>
          <a:latin typeface="+mn-lt"/>
          <a:ea typeface="+mn-ea"/>
          <a:cs typeface="+mn-cs"/>
        </a:defRPr>
      </a:lvl1pPr>
      <a:lvl2pPr marL="2468880" indent="-822960" algn="l" defTabSz="3291840" rtl="0" eaLnBrk="1" latinLnBrk="0" hangingPunct="1">
        <a:lnSpc>
          <a:spcPct val="90000"/>
        </a:lnSpc>
        <a:spcBef>
          <a:spcPts val="1800"/>
        </a:spcBef>
        <a:buFont typeface="Arial" panose="020B0604020202020204" pitchFamily="34" charset="0"/>
        <a:buChar char="•"/>
        <a:defRPr sz="8640" kern="1200">
          <a:solidFill>
            <a:schemeClr val="tx1"/>
          </a:solidFill>
          <a:latin typeface="+mn-lt"/>
          <a:ea typeface="+mn-ea"/>
          <a:cs typeface="+mn-cs"/>
        </a:defRPr>
      </a:lvl2pPr>
      <a:lvl3pPr marL="4114800" indent="-822960" algn="l" defTabSz="3291840" rtl="0" eaLnBrk="1" latinLnBrk="0" hangingPunct="1">
        <a:lnSpc>
          <a:spcPct val="90000"/>
        </a:lnSpc>
        <a:spcBef>
          <a:spcPts val="1800"/>
        </a:spcBef>
        <a:buFont typeface="Arial" panose="020B0604020202020204" pitchFamily="34" charset="0"/>
        <a:buChar char="•"/>
        <a:defRPr sz="7200" kern="1200">
          <a:solidFill>
            <a:schemeClr val="tx1"/>
          </a:solidFill>
          <a:latin typeface="+mn-lt"/>
          <a:ea typeface="+mn-ea"/>
          <a:cs typeface="+mn-cs"/>
        </a:defRPr>
      </a:lvl3pPr>
      <a:lvl4pPr marL="576072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4pPr>
      <a:lvl5pPr marL="740664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5pPr>
      <a:lvl6pPr marL="905256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6pPr>
      <a:lvl7pPr marL="1069848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7pPr>
      <a:lvl8pPr marL="1234440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8pPr>
      <a:lvl9pPr marL="1399032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9pPr>
    </p:bodyStyle>
    <p:otherStyle>
      <a:defPPr>
        <a:defRPr lang="en-US"/>
      </a:defPPr>
      <a:lvl1pPr marL="0" algn="l" defTabSz="3291840" rtl="0" eaLnBrk="1" latinLnBrk="0" hangingPunct="1">
        <a:defRPr sz="6480" kern="1200">
          <a:solidFill>
            <a:schemeClr val="tx1"/>
          </a:solidFill>
          <a:latin typeface="+mn-lt"/>
          <a:ea typeface="+mn-ea"/>
          <a:cs typeface="+mn-cs"/>
        </a:defRPr>
      </a:lvl1pPr>
      <a:lvl2pPr marL="1645920" algn="l" defTabSz="3291840" rtl="0" eaLnBrk="1" latinLnBrk="0" hangingPunct="1">
        <a:defRPr sz="6480" kern="1200">
          <a:solidFill>
            <a:schemeClr val="tx1"/>
          </a:solidFill>
          <a:latin typeface="+mn-lt"/>
          <a:ea typeface="+mn-ea"/>
          <a:cs typeface="+mn-cs"/>
        </a:defRPr>
      </a:lvl2pPr>
      <a:lvl3pPr marL="3291840" algn="l" defTabSz="3291840" rtl="0" eaLnBrk="1" latinLnBrk="0" hangingPunct="1">
        <a:defRPr sz="6480" kern="1200">
          <a:solidFill>
            <a:schemeClr val="tx1"/>
          </a:solidFill>
          <a:latin typeface="+mn-lt"/>
          <a:ea typeface="+mn-ea"/>
          <a:cs typeface="+mn-cs"/>
        </a:defRPr>
      </a:lvl3pPr>
      <a:lvl4pPr marL="4937760" algn="l" defTabSz="3291840" rtl="0" eaLnBrk="1" latinLnBrk="0" hangingPunct="1">
        <a:defRPr sz="6480" kern="1200">
          <a:solidFill>
            <a:schemeClr val="tx1"/>
          </a:solidFill>
          <a:latin typeface="+mn-lt"/>
          <a:ea typeface="+mn-ea"/>
          <a:cs typeface="+mn-cs"/>
        </a:defRPr>
      </a:lvl4pPr>
      <a:lvl5pPr marL="6583680" algn="l" defTabSz="3291840" rtl="0" eaLnBrk="1" latinLnBrk="0" hangingPunct="1">
        <a:defRPr sz="6480" kern="1200">
          <a:solidFill>
            <a:schemeClr val="tx1"/>
          </a:solidFill>
          <a:latin typeface="+mn-lt"/>
          <a:ea typeface="+mn-ea"/>
          <a:cs typeface="+mn-cs"/>
        </a:defRPr>
      </a:lvl5pPr>
      <a:lvl6pPr marL="8229600" algn="l" defTabSz="3291840" rtl="0" eaLnBrk="1" latinLnBrk="0" hangingPunct="1">
        <a:defRPr sz="6480" kern="1200">
          <a:solidFill>
            <a:schemeClr val="tx1"/>
          </a:solidFill>
          <a:latin typeface="+mn-lt"/>
          <a:ea typeface="+mn-ea"/>
          <a:cs typeface="+mn-cs"/>
        </a:defRPr>
      </a:lvl6pPr>
      <a:lvl7pPr marL="9875520" algn="l" defTabSz="3291840" rtl="0" eaLnBrk="1" latinLnBrk="0" hangingPunct="1">
        <a:defRPr sz="6480" kern="1200">
          <a:solidFill>
            <a:schemeClr val="tx1"/>
          </a:solidFill>
          <a:latin typeface="+mn-lt"/>
          <a:ea typeface="+mn-ea"/>
          <a:cs typeface="+mn-cs"/>
        </a:defRPr>
      </a:lvl7pPr>
      <a:lvl8pPr marL="11521440" algn="l" defTabSz="3291840" rtl="0" eaLnBrk="1" latinLnBrk="0" hangingPunct="1">
        <a:defRPr sz="6480" kern="1200">
          <a:solidFill>
            <a:schemeClr val="tx1"/>
          </a:solidFill>
          <a:latin typeface="+mn-lt"/>
          <a:ea typeface="+mn-ea"/>
          <a:cs typeface="+mn-cs"/>
        </a:defRPr>
      </a:lvl8pPr>
      <a:lvl9pPr marL="13167360" algn="l" defTabSz="3291840" rtl="0" eaLnBrk="1" latinLnBrk="0" hangingPunct="1">
        <a:defRPr sz="648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a:spLocks/>
          </p:cNvSpPr>
          <p:nvPr/>
        </p:nvSpPr>
        <p:spPr>
          <a:xfrm>
            <a:off x="1" y="0"/>
            <a:ext cx="32918399" cy="6236208"/>
          </a:xfrm>
          <a:prstGeom prst="rect">
            <a:avLst/>
          </a:prstGeom>
          <a:solidFill>
            <a:srgbClr val="280334"/>
          </a:solidFill>
        </p:spPr>
        <p:txBody>
          <a:bodyPr wrap="square" rtlCol="0" anchor="ctr">
            <a:normAutofit/>
          </a:bodyPr>
          <a:lstStyle/>
          <a:p>
            <a:pPr algn="ctr"/>
            <a:r>
              <a:rPr lang="en-US" sz="12000" b="1" dirty="0">
                <a:solidFill>
                  <a:schemeClr val="bg1"/>
                </a:solidFill>
              </a:rPr>
              <a:t/>
            </a:r>
          </a:p>
        </p:txBody>
      </p:sp>
      <p:sp>
        <p:nvSpPr>
          <p:cNvPr id="5" name="TextBox 4"/>
          <p:cNvSpPr txBox="1"/>
          <p:nvPr/>
        </p:nvSpPr>
        <p:spPr>
          <a:xfrm>
            <a:off x="914400" y="640080"/>
            <a:ext cx="24505920" cy="1920240"/>
          </a:xfrm>
          <a:prstGeom prst="rect">
            <a:avLst/>
          </a:prstGeom>
          <a:noFill/>
        </p:spPr>
        <p:txBody>
          <a:bodyPr wrap="square" anchor="t" lIns="0" rIns="0" tIns="0" bIns="0">
            <a:spAutoFit/>
          </a:bodyPr>
          <a:lstStyle/>
          <a:p>
            <a:pPr algn="l">
              <a:lnSpc>
                <a:spcPct val="100000"/>
              </a:lnSpc>
              <a:spcAft>
                <a:spcPts val="0"/>
              </a:spcAft>
            </a:pPr>
            <a:r>
              <a:rPr sz="10400" b="1" i="0">
                <a:solidFill>
                  <a:srgbClr val="FFFFFF"/>
                </a:solidFill>
                <a:latin typeface="Calibri"/>
              </a:rPr>
              <a:t>Telehealth Hypertension Analytics</a:t>
            </a:r>
          </a:p>
        </p:txBody>
      </p:sp>
      <p:sp>
        <p:nvSpPr>
          <p:cNvPr id="6" name="TextBox 5"/>
          <p:cNvSpPr txBox="1"/>
          <p:nvPr/>
        </p:nvSpPr>
        <p:spPr>
          <a:xfrm>
            <a:off x="914400" y="2697480"/>
            <a:ext cx="24505920" cy="914400"/>
          </a:xfrm>
          <a:prstGeom prst="rect">
            <a:avLst/>
          </a:prstGeom>
          <a:noFill/>
        </p:spPr>
        <p:txBody>
          <a:bodyPr wrap="square" anchor="t" lIns="0" rIns="0" tIns="0" bIns="0">
            <a:spAutoFit/>
          </a:bodyPr>
          <a:lstStyle/>
          <a:p>
            <a:pPr algn="l">
              <a:lnSpc>
                <a:spcPct val="100000"/>
              </a:lnSpc>
              <a:spcAft>
                <a:spcPts val="0"/>
              </a:spcAft>
            </a:pPr>
            <a:r>
              <a:rPr sz="5000" b="0" i="0">
                <a:solidFill>
                  <a:srgbClr val="E6D9F5"/>
                </a:solidFill>
                <a:latin typeface="Calibri"/>
              </a:rPr>
              <a:t>Explained, audited blood pressure staging from 24-hour monitoring</a:t>
            </a:r>
          </a:p>
        </p:txBody>
      </p:sp>
      <p:sp>
        <p:nvSpPr>
          <p:cNvPr id="7" name="TextBox 6"/>
          <p:cNvSpPr txBox="1"/>
          <p:nvPr/>
        </p:nvSpPr>
        <p:spPr>
          <a:xfrm>
            <a:off x="914400" y="3977639"/>
            <a:ext cx="24505920" cy="2011680"/>
          </a:xfrm>
          <a:prstGeom prst="rect">
            <a:avLst/>
          </a:prstGeom>
          <a:noFill/>
        </p:spPr>
        <p:txBody>
          <a:bodyPr wrap="square" anchor="t" lIns="0" rIns="0" tIns="0" bIns="0">
            <a:spAutoFit/>
          </a:bodyPr>
          <a:lstStyle/>
          <a:p>
            <a:pPr algn="l">
              <a:lnSpc>
                <a:spcPct val="100000"/>
              </a:lnSpc>
              <a:spcAft>
                <a:spcPts val="600"/>
              </a:spcAft>
            </a:pPr>
            <a:r>
              <a:rPr sz="3800" b="1" i="0">
                <a:solidFill>
                  <a:srgbClr val="FFFFFF"/>
                </a:solidFill>
                <a:latin typeface="Calibri"/>
              </a:rPr>
              <a:t>Raja Chakraborty</a:t>
            </a:r>
            <a:r>
              <a:rPr sz="3800" b="0" i="0">
                <a:solidFill>
                  <a:srgbClr val="FFFFFF"/>
                </a:solidFill>
                <a:latin typeface="Calibri"/>
              </a:rPr>
              <a:t>, M.S. in Data Science  |  rajachakraborti@gmail.com</a:t>
            </a:r>
          </a:p>
          <a:p>
            <a:pPr algn="l">
              <a:lnSpc>
                <a:spcPct val="100000"/>
              </a:lnSpc>
              <a:spcAft>
                <a:spcPts val="600"/>
              </a:spcAft>
            </a:pPr>
            <a:r>
              <a:rPr sz="3800" b="0" i="0">
                <a:solidFill>
                  <a:srgbClr val="FFFFFF"/>
                </a:solidFill>
                <a:latin typeface="Calibri"/>
              </a:rPr>
              <a:t>Faculty advisor: Jonathan Pollyn  |  DSC-590 Data Science Capstone  |  Grand Canyon University</a:t>
            </a:r>
          </a:p>
        </p:txBody>
      </p:sp>
      <p:sp>
        <p:nvSpPr>
          <p:cNvPr id="8" name="Rounded Rectangle 7"/>
          <p:cNvSpPr/>
          <p:nvPr/>
        </p:nvSpPr>
        <p:spPr>
          <a:xfrm>
            <a:off x="26243280" y="548640"/>
            <a:ext cx="5394960" cy="539496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a:extLst>
              <a:ext uri="{FF2B5EF4-FFF2-40B4-BE49-F238E27FC236}">
                <a16:creationId xmlns:a16="http://schemas.microsoft.com/office/drawing/2014/main" id="{5C2C354B-5570-E4E3-B400-F36CB4050B60}"/>
              </a:ext>
            </a:extLst>
          </p:cNvPr>
          <p:cNvPicPr>
            <a:picLocks noChangeAspect="1"/>
          </p:cNvPicPr>
          <p:nvPr/>
        </p:nvPicPr>
        <p:blipFill>
          <a:blip r:embed="rId2"/>
          <a:stretch>
            <a:fillRect/>
          </a:stretch>
        </p:blipFill>
        <p:spPr>
          <a:xfrm>
            <a:off x="26471880" y="777240"/>
            <a:ext cx="4937760" cy="4937760"/>
          </a:xfrm>
          <a:prstGeom prst="rect">
            <a:avLst/>
          </a:prstGeom>
        </p:spPr>
      </p:pic>
      <p:sp>
        <p:nvSpPr>
          <p:cNvPr id="9" name="Rounded Rectangle 8"/>
          <p:cNvSpPr/>
          <p:nvPr/>
        </p:nvSpPr>
        <p:spPr>
          <a:xfrm>
            <a:off x="914400" y="7040880"/>
            <a:ext cx="9875520" cy="1234440"/>
          </a:xfrm>
          <a:prstGeom prst="roundRect">
            <a:avLst>
              <a:gd name="adj" fmla="val 18000"/>
            </a:avLst>
          </a:prstGeom>
          <a:solidFill>
            <a:srgbClr val="522398"/>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wrap="square"/>
          <a:lstStyle/>
          <a:p>
            <a:pPr algn="l"/>
            <a:r>
              <a:rPr sz="4600" b="1">
                <a:solidFill>
                  <a:srgbClr val="FFFFFF"/>
                </a:solidFill>
                <a:latin typeface="Calibri"/>
              </a:rPr>
              <a:t>1  Project Description</a:t>
            </a:r>
          </a:p>
        </p:txBody>
      </p:sp>
      <p:sp>
        <p:nvSpPr>
          <p:cNvPr id="10" name="TextBox 9"/>
          <p:cNvSpPr txBox="1"/>
          <p:nvPr/>
        </p:nvSpPr>
        <p:spPr>
          <a:xfrm>
            <a:off x="914400" y="8686800"/>
            <a:ext cx="9875520" cy="3911600"/>
          </a:xfrm>
          <a:prstGeom prst="rect">
            <a:avLst/>
          </a:prstGeom>
          <a:noFill/>
        </p:spPr>
        <p:txBody>
          <a:bodyPr wrap="square" anchor="t" lIns="0" rIns="0" tIns="0" bIns="0">
            <a:spAutoFit/>
          </a:bodyPr>
          <a:lstStyle/>
          <a:p>
            <a:pPr algn="l">
              <a:lnSpc>
                <a:spcPct val="100000"/>
              </a:lnSpc>
              <a:spcAft>
                <a:spcPts val="1000"/>
              </a:spcAft>
            </a:pPr>
            <a:r>
              <a:rPr sz="3000" b="1" i="0">
                <a:solidFill>
                  <a:srgbClr val="1F2933"/>
                </a:solidFill>
                <a:latin typeface="Calibri"/>
              </a:rPr>
              <a:t>What it is. </a:t>
            </a:r>
            <a:r>
              <a:rPr sz="3000" b="0" i="0">
                <a:solidFill>
                  <a:srgbClr val="1F2933"/>
                </a:solidFill>
                <a:latin typeface="Calibri"/>
              </a:rPr>
              <a:t>A decision-support tool that reads a patient's full 24-hour blood pressure record, suggests a hypertension stage, shows which measurements drove the result, and flags uncertain cases for a clinician.</a:t>
            </a:r>
          </a:p>
          <a:p>
            <a:pPr algn="l">
              <a:lnSpc>
                <a:spcPct val="100000"/>
              </a:lnSpc>
              <a:spcAft>
                <a:spcPts val="1000"/>
              </a:spcAft>
            </a:pPr>
            <a:r>
              <a:rPr sz="3000" b="1" i="0">
                <a:solidFill>
                  <a:srgbClr val="1F2933"/>
                </a:solidFill>
                <a:latin typeface="Calibri"/>
              </a:rPr>
              <a:t>Who it helps. </a:t>
            </a:r>
            <a:r>
              <a:rPr sz="3000" b="0" i="0">
                <a:solidFill>
                  <a:srgbClr val="1F2933"/>
                </a:solidFill>
                <a:latin typeface="Calibri"/>
              </a:rPr>
              <a:t>Clinicians who review ambulatory monitoring (ABPM), where a wearable cuff takes about 48 readings across a day and night.</a:t>
            </a:r>
          </a:p>
        </p:txBody>
      </p:sp>
      <p:sp>
        <p:nvSpPr>
          <p:cNvPr id="11" name="Rounded Rectangle 10"/>
          <p:cNvSpPr/>
          <p:nvPr/>
        </p:nvSpPr>
        <p:spPr>
          <a:xfrm>
            <a:off x="914400" y="12689840"/>
            <a:ext cx="2926080" cy="3566160"/>
          </a:xfrm>
          <a:prstGeom prst="roundRect">
            <a:avLst>
              <a:gd name="adj" fmla="val 7000"/>
            </a:avLst>
          </a:prstGeom>
          <a:solidFill>
            <a:srgbClr val="F3EEF8"/>
          </a:solidFill>
          <a:ln w="31750">
            <a:solidFill>
              <a:srgbClr val="D9CC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965960" y="12872720"/>
            <a:ext cx="822960" cy="822960"/>
          </a:xfrm>
          <a:prstGeom prst="ellipse">
            <a:avLst/>
          </a:prstGeom>
          <a:solidFill>
            <a:srgbClr val="52239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4000" b="1">
                <a:solidFill>
                  <a:srgbClr val="FFFFFF"/>
                </a:solidFill>
                <a:latin typeface="Calibri"/>
              </a:rPr>
              <a:t>1</a:t>
            </a:r>
          </a:p>
        </p:txBody>
      </p:sp>
      <p:sp>
        <p:nvSpPr>
          <p:cNvPr id="13" name="TextBox 12"/>
          <p:cNvSpPr txBox="1"/>
          <p:nvPr/>
        </p:nvSpPr>
        <p:spPr>
          <a:xfrm>
            <a:off x="1005840" y="13832840"/>
            <a:ext cx="2743200" cy="640080"/>
          </a:xfrm>
          <a:prstGeom prst="rect">
            <a:avLst/>
          </a:prstGeom>
          <a:noFill/>
        </p:spPr>
        <p:txBody>
          <a:bodyPr wrap="square" anchor="t" lIns="0" rIns="0" tIns="0" bIns="0">
            <a:spAutoFit/>
          </a:bodyPr>
          <a:lstStyle/>
          <a:p>
            <a:pPr algn="ctr">
              <a:lnSpc>
                <a:spcPct val="100000"/>
              </a:lnSpc>
              <a:spcAft>
                <a:spcPts val="0"/>
              </a:spcAft>
            </a:pPr>
            <a:r>
              <a:rPr sz="2600" b="1" i="0">
                <a:solidFill>
                  <a:srgbClr val="522398"/>
                </a:solidFill>
                <a:latin typeface="Calibri"/>
              </a:rPr>
              <a:t>Record in</a:t>
            </a:r>
          </a:p>
        </p:txBody>
      </p:sp>
      <p:sp>
        <p:nvSpPr>
          <p:cNvPr id="14" name="TextBox 13"/>
          <p:cNvSpPr txBox="1"/>
          <p:nvPr/>
        </p:nvSpPr>
        <p:spPr>
          <a:xfrm>
            <a:off x="1097280" y="14564360"/>
            <a:ext cx="2560320" cy="1645920"/>
          </a:xfrm>
          <a:prstGeom prst="rect">
            <a:avLst/>
          </a:prstGeom>
          <a:noFill/>
        </p:spPr>
        <p:txBody>
          <a:bodyPr wrap="square" anchor="t" lIns="0" rIns="0" tIns="0" bIns="0">
            <a:spAutoFit/>
          </a:bodyPr>
          <a:lstStyle/>
          <a:p>
            <a:pPr algn="ctr">
              <a:lnSpc>
                <a:spcPct val="100000"/>
              </a:lnSpc>
              <a:spcAft>
                <a:spcPts val="0"/>
              </a:spcAft>
            </a:pPr>
            <a:r>
              <a:rPr sz="2400" b="0" i="0">
                <a:solidFill>
                  <a:srgbClr val="1F2933"/>
                </a:solidFill>
                <a:latin typeface="Calibri"/>
              </a:rPr>
              <a:t>48 readings from one 24-hour cuff recording</a:t>
            </a:r>
          </a:p>
        </p:txBody>
      </p:sp>
      <p:sp>
        <p:nvSpPr>
          <p:cNvPr id="15" name="Rounded Rectangle 14"/>
          <p:cNvSpPr/>
          <p:nvPr/>
        </p:nvSpPr>
        <p:spPr>
          <a:xfrm>
            <a:off x="4389120" y="12689840"/>
            <a:ext cx="2926080" cy="3566160"/>
          </a:xfrm>
          <a:prstGeom prst="roundRect">
            <a:avLst>
              <a:gd name="adj" fmla="val 7000"/>
            </a:avLst>
          </a:prstGeom>
          <a:solidFill>
            <a:srgbClr val="F3EEF8"/>
          </a:solidFill>
          <a:ln w="31750">
            <a:solidFill>
              <a:srgbClr val="D9CC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440680" y="12872720"/>
            <a:ext cx="822960" cy="822960"/>
          </a:xfrm>
          <a:prstGeom prst="ellipse">
            <a:avLst/>
          </a:prstGeom>
          <a:solidFill>
            <a:srgbClr val="52239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4000" b="1">
                <a:solidFill>
                  <a:srgbClr val="FFFFFF"/>
                </a:solidFill>
                <a:latin typeface="Calibri"/>
              </a:rPr>
              <a:t>2</a:t>
            </a:r>
          </a:p>
        </p:txBody>
      </p:sp>
      <p:sp>
        <p:nvSpPr>
          <p:cNvPr id="17" name="TextBox 16"/>
          <p:cNvSpPr txBox="1"/>
          <p:nvPr/>
        </p:nvSpPr>
        <p:spPr>
          <a:xfrm>
            <a:off x="4480560" y="13832840"/>
            <a:ext cx="2743200" cy="640080"/>
          </a:xfrm>
          <a:prstGeom prst="rect">
            <a:avLst/>
          </a:prstGeom>
          <a:noFill/>
        </p:spPr>
        <p:txBody>
          <a:bodyPr wrap="square" anchor="t" lIns="0" rIns="0" tIns="0" bIns="0">
            <a:spAutoFit/>
          </a:bodyPr>
          <a:lstStyle/>
          <a:p>
            <a:pPr algn="ctr">
              <a:lnSpc>
                <a:spcPct val="100000"/>
              </a:lnSpc>
              <a:spcAft>
                <a:spcPts val="0"/>
              </a:spcAft>
            </a:pPr>
            <a:r>
              <a:rPr sz="2600" b="1" i="0">
                <a:solidFill>
                  <a:srgbClr val="522398"/>
                </a:solidFill>
                <a:latin typeface="Calibri"/>
              </a:rPr>
              <a:t>Stage + explain</a:t>
            </a:r>
          </a:p>
        </p:txBody>
      </p:sp>
      <p:sp>
        <p:nvSpPr>
          <p:cNvPr id="18" name="TextBox 17"/>
          <p:cNvSpPr txBox="1"/>
          <p:nvPr/>
        </p:nvSpPr>
        <p:spPr>
          <a:xfrm>
            <a:off x="4572000" y="14564360"/>
            <a:ext cx="2560320" cy="1645920"/>
          </a:xfrm>
          <a:prstGeom prst="rect">
            <a:avLst/>
          </a:prstGeom>
          <a:noFill/>
        </p:spPr>
        <p:txBody>
          <a:bodyPr wrap="square" anchor="t" lIns="0" rIns="0" tIns="0" bIns="0">
            <a:spAutoFit/>
          </a:bodyPr>
          <a:lstStyle/>
          <a:p>
            <a:pPr algn="ctr">
              <a:lnSpc>
                <a:spcPct val="100000"/>
              </a:lnSpc>
              <a:spcAft>
                <a:spcPts val="0"/>
              </a:spcAft>
            </a:pPr>
            <a:r>
              <a:rPr sz="2400" b="0" i="0">
                <a:solidFill>
                  <a:srgbClr val="1F2933"/>
                </a:solidFill>
                <a:latin typeface="Calibri"/>
              </a:rPr>
              <a:t>Normal, Elevated, Stage 1 or Stage 2, with reasons</a:t>
            </a:r>
          </a:p>
        </p:txBody>
      </p:sp>
      <p:sp>
        <p:nvSpPr>
          <p:cNvPr id="19" name="Rounded Rectangle 18"/>
          <p:cNvSpPr/>
          <p:nvPr/>
        </p:nvSpPr>
        <p:spPr>
          <a:xfrm>
            <a:off x="7863840" y="12689840"/>
            <a:ext cx="2926080" cy="3566160"/>
          </a:xfrm>
          <a:prstGeom prst="roundRect">
            <a:avLst>
              <a:gd name="adj" fmla="val 7000"/>
            </a:avLst>
          </a:prstGeom>
          <a:solidFill>
            <a:srgbClr val="F3EEF8"/>
          </a:solidFill>
          <a:ln w="31750">
            <a:solidFill>
              <a:srgbClr val="D9CC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915400" y="12872720"/>
            <a:ext cx="822960" cy="822960"/>
          </a:xfrm>
          <a:prstGeom prst="ellipse">
            <a:avLst/>
          </a:prstGeom>
          <a:solidFill>
            <a:srgbClr val="52239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4000" b="1">
                <a:solidFill>
                  <a:srgbClr val="FFFFFF"/>
                </a:solidFill>
                <a:latin typeface="Calibri"/>
              </a:rPr>
              <a:t>3</a:t>
            </a:r>
          </a:p>
        </p:txBody>
      </p:sp>
      <p:sp>
        <p:nvSpPr>
          <p:cNvPr id="21" name="TextBox 20"/>
          <p:cNvSpPr txBox="1"/>
          <p:nvPr/>
        </p:nvSpPr>
        <p:spPr>
          <a:xfrm>
            <a:off x="7955280" y="13832840"/>
            <a:ext cx="2743200" cy="640080"/>
          </a:xfrm>
          <a:prstGeom prst="rect">
            <a:avLst/>
          </a:prstGeom>
          <a:noFill/>
        </p:spPr>
        <p:txBody>
          <a:bodyPr wrap="square" anchor="t" lIns="0" rIns="0" tIns="0" bIns="0">
            <a:spAutoFit/>
          </a:bodyPr>
          <a:lstStyle/>
          <a:p>
            <a:pPr algn="ctr">
              <a:lnSpc>
                <a:spcPct val="100000"/>
              </a:lnSpc>
              <a:spcAft>
                <a:spcPts val="0"/>
              </a:spcAft>
            </a:pPr>
            <a:r>
              <a:rPr sz="2600" b="1" i="0">
                <a:solidFill>
                  <a:srgbClr val="522398"/>
                </a:solidFill>
                <a:latin typeface="Calibri"/>
              </a:rPr>
              <a:t>Clinician decides</a:t>
            </a:r>
          </a:p>
        </p:txBody>
      </p:sp>
      <p:sp>
        <p:nvSpPr>
          <p:cNvPr id="22" name="TextBox 21"/>
          <p:cNvSpPr txBox="1"/>
          <p:nvPr/>
        </p:nvSpPr>
        <p:spPr>
          <a:xfrm>
            <a:off x="8046720" y="14564360"/>
            <a:ext cx="2560320" cy="1645920"/>
          </a:xfrm>
          <a:prstGeom prst="rect">
            <a:avLst/>
          </a:prstGeom>
          <a:noFill/>
        </p:spPr>
        <p:txBody>
          <a:bodyPr wrap="square" anchor="t" lIns="0" rIns="0" tIns="0" bIns="0">
            <a:spAutoFit/>
          </a:bodyPr>
          <a:lstStyle/>
          <a:p>
            <a:pPr algn="ctr">
              <a:lnSpc>
                <a:spcPct val="100000"/>
              </a:lnSpc>
              <a:spcAft>
                <a:spcPts val="0"/>
              </a:spcAft>
            </a:pPr>
            <a:r>
              <a:rPr sz="2400" b="0" i="0">
                <a:solidFill>
                  <a:srgbClr val="1F2933"/>
                </a:solidFill>
                <a:latin typeface="Calibri"/>
              </a:rPr>
              <a:t>Low-confidence cases are flagged for review</a:t>
            </a:r>
          </a:p>
        </p:txBody>
      </p:sp>
      <p:sp>
        <p:nvSpPr>
          <p:cNvPr id="23" name="TextBox 22"/>
          <p:cNvSpPr txBox="1"/>
          <p:nvPr/>
        </p:nvSpPr>
        <p:spPr>
          <a:xfrm>
            <a:off x="914400" y="16667480"/>
            <a:ext cx="9875520" cy="2997200"/>
          </a:xfrm>
          <a:prstGeom prst="rect">
            <a:avLst/>
          </a:prstGeom>
          <a:noFill/>
        </p:spPr>
        <p:txBody>
          <a:bodyPr wrap="square" anchor="t" lIns="0" rIns="0" tIns="0" bIns="0">
            <a:spAutoFit/>
          </a:bodyPr>
          <a:lstStyle/>
          <a:p>
            <a:pPr algn="l">
              <a:lnSpc>
                <a:spcPct val="100000"/>
              </a:lnSpc>
              <a:spcAft>
                <a:spcPts val="1000"/>
              </a:spcAft>
            </a:pPr>
            <a:r>
              <a:rPr sz="3000" b="1" i="0">
                <a:solidFill>
                  <a:srgbClr val="1F2933"/>
                </a:solidFill>
                <a:latin typeface="Calibri"/>
              </a:rPr>
              <a:t>What was built. </a:t>
            </a:r>
            <a:r>
              <a:rPr sz="3000" b="0" i="0">
                <a:solidFill>
                  <a:srgbClr val="1F2933"/>
                </a:solidFill>
                <a:latin typeface="Calibri"/>
              </a:rPr>
              <a:t>A machine learning model, a secured web service (API), a dashboard page and 44 automated tests, released together as one tagged version on GitHub.</a:t>
            </a:r>
          </a:p>
          <a:p>
            <a:pPr algn="l">
              <a:lnSpc>
                <a:spcPct val="100000"/>
              </a:lnSpc>
              <a:spcAft>
                <a:spcPts val="1000"/>
              </a:spcAft>
            </a:pPr>
            <a:r>
              <a:rPr sz="3000" b="1" i="0">
                <a:solidFill>
                  <a:srgbClr val="1F2933"/>
                </a:solidFill>
                <a:latin typeface="Calibri"/>
              </a:rPr>
              <a:t>Data. </a:t>
            </a:r>
            <a:r>
              <a:rPr sz="3000" b="0" i="0">
                <a:solidFill>
                  <a:srgbClr val="1F2933"/>
                </a:solidFill>
                <a:latin typeface="Calibri"/>
              </a:rPr>
              <a:t>Real patient records are protected, so every result here uses 1,800 simulated patients.</a:t>
            </a:r>
          </a:p>
        </p:txBody>
      </p:sp>
      <p:sp>
        <p:nvSpPr>
          <p:cNvPr id="24" name="Rounded Rectangle 23"/>
          <p:cNvSpPr/>
          <p:nvPr/>
        </p:nvSpPr>
        <p:spPr>
          <a:xfrm>
            <a:off x="914400" y="20076160"/>
            <a:ext cx="9875520" cy="1234440"/>
          </a:xfrm>
          <a:prstGeom prst="roundRect">
            <a:avLst>
              <a:gd name="adj" fmla="val 18000"/>
            </a:avLst>
          </a:prstGeom>
          <a:solidFill>
            <a:srgbClr val="522398"/>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wrap="square"/>
          <a:lstStyle/>
          <a:p>
            <a:pPr algn="l"/>
            <a:r>
              <a:rPr sz="4600" b="1">
                <a:solidFill>
                  <a:srgbClr val="FFFFFF"/>
                </a:solidFill>
                <a:latin typeface="Calibri"/>
              </a:rPr>
              <a:t>2  Project Justification</a:t>
            </a:r>
          </a:p>
        </p:txBody>
      </p:sp>
      <p:sp>
        <p:nvSpPr>
          <p:cNvPr id="25" name="TextBox 24"/>
          <p:cNvSpPr txBox="1"/>
          <p:nvPr/>
        </p:nvSpPr>
        <p:spPr>
          <a:xfrm>
            <a:off x="914400" y="21722080"/>
            <a:ext cx="9875520" cy="3911600"/>
          </a:xfrm>
          <a:prstGeom prst="rect">
            <a:avLst/>
          </a:prstGeom>
          <a:noFill/>
        </p:spPr>
        <p:txBody>
          <a:bodyPr wrap="square" anchor="t" lIns="0" rIns="0" tIns="0" bIns="0">
            <a:spAutoFit/>
          </a:bodyPr>
          <a:lstStyle/>
          <a:p>
            <a:pPr algn="l">
              <a:lnSpc>
                <a:spcPct val="100000"/>
              </a:lnSpc>
              <a:spcAft>
                <a:spcPts val="1000"/>
              </a:spcAft>
            </a:pPr>
            <a:r>
              <a:rPr sz="3000" b="0" i="0">
                <a:solidFill>
                  <a:srgbClr val="1F2933"/>
                </a:solidFill>
                <a:latin typeface="Calibri"/>
              </a:rPr>
              <a:t>High blood pressure is a leading modifiable risk factor for cardiovascular disease, yet it is usually diagnosed from a few office readings (Whelton et al., 2018).</a:t>
            </a:r>
          </a:p>
          <a:p>
            <a:pPr algn="l">
              <a:lnSpc>
                <a:spcPct val="100000"/>
              </a:lnSpc>
              <a:spcAft>
                <a:spcPts val="1000"/>
              </a:spcAft>
            </a:pPr>
            <a:r>
              <a:rPr sz="3000" b="0" i="0">
                <a:solidFill>
                  <a:srgbClr val="1F2933"/>
                </a:solidFill>
                <a:latin typeface="Calibri"/>
              </a:rPr>
              <a:t>A single reading can mislead in both directions: white-coat hypertension looks high only in the clinic, and masked hypertension looks normal in the clinic but is high outside it.</a:t>
            </a:r>
          </a:p>
        </p:txBody>
      </p:sp>
      <p:sp>
        <p:nvSpPr>
          <p:cNvPr id="26" name="Rounded Rectangle 25"/>
          <p:cNvSpPr/>
          <p:nvPr/>
        </p:nvSpPr>
        <p:spPr>
          <a:xfrm>
            <a:off x="914400" y="25725120"/>
            <a:ext cx="3108960" cy="2834640"/>
          </a:xfrm>
          <a:prstGeom prst="roundRect">
            <a:avLst>
              <a:gd name="adj" fmla="val 8000"/>
            </a:avLst>
          </a:prstGeom>
          <a:solidFill>
            <a:srgbClr val="F3EEF8"/>
          </a:solidFill>
          <a:ln w="31750">
            <a:solidFill>
              <a:srgbClr val="D9CC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97280" y="25862280"/>
            <a:ext cx="2743200" cy="1417320"/>
          </a:xfrm>
          <a:prstGeom prst="rect">
            <a:avLst/>
          </a:prstGeom>
          <a:noFill/>
        </p:spPr>
        <p:txBody>
          <a:bodyPr wrap="square" anchor="ctr" lIns="0" rIns="0" tIns="0" bIns="0">
            <a:spAutoFit/>
          </a:bodyPr>
          <a:lstStyle/>
          <a:p>
            <a:pPr algn="ctr">
              <a:lnSpc>
                <a:spcPct val="100000"/>
              </a:lnSpc>
              <a:spcAft>
                <a:spcPts val="0"/>
              </a:spcAft>
            </a:pPr>
            <a:r>
              <a:rPr sz="6600" b="1" i="0">
                <a:solidFill>
                  <a:srgbClr val="522398"/>
                </a:solidFill>
                <a:latin typeface="Calibri"/>
              </a:rPr>
              <a:t>25.5%</a:t>
            </a:r>
          </a:p>
        </p:txBody>
      </p:sp>
      <p:sp>
        <p:nvSpPr>
          <p:cNvPr id="28" name="TextBox 27"/>
          <p:cNvSpPr txBox="1"/>
          <p:nvPr/>
        </p:nvSpPr>
        <p:spPr>
          <a:xfrm>
            <a:off x="1143000" y="27284172"/>
            <a:ext cx="2651760" cy="1190548"/>
          </a:xfrm>
          <a:prstGeom prst="rect">
            <a:avLst/>
          </a:prstGeom>
          <a:noFill/>
        </p:spPr>
        <p:txBody>
          <a:bodyPr wrap="square" anchor="t" lIns="0" rIns="0" tIns="0" bIns="0">
            <a:spAutoFit/>
          </a:bodyPr>
          <a:lstStyle/>
          <a:p>
            <a:pPr algn="ctr">
              <a:lnSpc>
                <a:spcPct val="100000"/>
              </a:lnSpc>
              <a:spcAft>
                <a:spcPts val="0"/>
              </a:spcAft>
            </a:pPr>
            <a:r>
              <a:rPr sz="2500" b="0" i="0">
                <a:solidFill>
                  <a:srgbClr val="1F2933"/>
                </a:solidFill>
                <a:latin typeface="Calibri"/>
              </a:rPr>
              <a:t>one office reading disagrees with true status</a:t>
            </a:r>
          </a:p>
        </p:txBody>
      </p:sp>
      <p:sp>
        <p:nvSpPr>
          <p:cNvPr id="29" name="Rounded Rectangle 28"/>
          <p:cNvSpPr/>
          <p:nvPr/>
        </p:nvSpPr>
        <p:spPr>
          <a:xfrm>
            <a:off x="4297680" y="25725120"/>
            <a:ext cx="3108960" cy="2834640"/>
          </a:xfrm>
          <a:prstGeom prst="roundRect">
            <a:avLst>
              <a:gd name="adj" fmla="val 8000"/>
            </a:avLst>
          </a:prstGeom>
          <a:solidFill>
            <a:srgbClr val="F3EEF8"/>
          </a:solidFill>
          <a:ln w="31750">
            <a:solidFill>
              <a:srgbClr val="D9CC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480560" y="25862280"/>
            <a:ext cx="2743200" cy="1417320"/>
          </a:xfrm>
          <a:prstGeom prst="rect">
            <a:avLst/>
          </a:prstGeom>
          <a:noFill/>
        </p:spPr>
        <p:txBody>
          <a:bodyPr wrap="square" anchor="ctr" lIns="0" rIns="0" tIns="0" bIns="0">
            <a:spAutoFit/>
          </a:bodyPr>
          <a:lstStyle/>
          <a:p>
            <a:pPr algn="ctr">
              <a:lnSpc>
                <a:spcPct val="100000"/>
              </a:lnSpc>
              <a:spcAft>
                <a:spcPts val="0"/>
              </a:spcAft>
            </a:pPr>
            <a:r>
              <a:rPr sz="6600" b="1" i="0">
                <a:solidFill>
                  <a:srgbClr val="522398"/>
                </a:solidFill>
                <a:latin typeface="Calibri"/>
              </a:rPr>
              <a:t>54%</a:t>
            </a:r>
          </a:p>
        </p:txBody>
      </p:sp>
      <p:sp>
        <p:nvSpPr>
          <p:cNvPr id="31" name="TextBox 30"/>
          <p:cNvSpPr txBox="1"/>
          <p:nvPr/>
        </p:nvSpPr>
        <p:spPr>
          <a:xfrm>
            <a:off x="4526280" y="27284172"/>
            <a:ext cx="2651760" cy="1190548"/>
          </a:xfrm>
          <a:prstGeom prst="rect">
            <a:avLst/>
          </a:prstGeom>
          <a:noFill/>
        </p:spPr>
        <p:txBody>
          <a:bodyPr wrap="square" anchor="t" lIns="0" rIns="0" tIns="0" bIns="0">
            <a:spAutoFit/>
          </a:bodyPr>
          <a:lstStyle/>
          <a:p>
            <a:pPr algn="ctr">
              <a:lnSpc>
                <a:spcPct val="100000"/>
              </a:lnSpc>
              <a:spcAft>
                <a:spcPts val="0"/>
              </a:spcAft>
            </a:pPr>
            <a:r>
              <a:rPr sz="2500" b="0" i="0">
                <a:solidFill>
                  <a:srgbClr val="1F2933"/>
                </a:solidFill>
                <a:latin typeface="Calibri"/>
              </a:rPr>
              <a:t>office-rule staging accuracy</a:t>
            </a:r>
          </a:p>
        </p:txBody>
      </p:sp>
      <p:sp>
        <p:nvSpPr>
          <p:cNvPr id="32" name="Rounded Rectangle 31"/>
          <p:cNvSpPr/>
          <p:nvPr/>
        </p:nvSpPr>
        <p:spPr>
          <a:xfrm>
            <a:off x="7680960" y="25725120"/>
            <a:ext cx="3108960" cy="2834640"/>
          </a:xfrm>
          <a:prstGeom prst="roundRect">
            <a:avLst>
              <a:gd name="adj" fmla="val 8000"/>
            </a:avLst>
          </a:prstGeom>
          <a:solidFill>
            <a:srgbClr val="F3EEF8"/>
          </a:solidFill>
          <a:ln w="31750">
            <a:solidFill>
              <a:srgbClr val="D9CC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863840" y="25862280"/>
            <a:ext cx="2743200" cy="1417320"/>
          </a:xfrm>
          <a:prstGeom prst="rect">
            <a:avLst/>
          </a:prstGeom>
          <a:noFill/>
        </p:spPr>
        <p:txBody>
          <a:bodyPr wrap="square" anchor="ctr" lIns="0" rIns="0" tIns="0" bIns="0">
            <a:spAutoFit/>
          </a:bodyPr>
          <a:lstStyle/>
          <a:p>
            <a:pPr algn="ctr">
              <a:lnSpc>
                <a:spcPct val="100000"/>
              </a:lnSpc>
              <a:spcAft>
                <a:spcPts val="0"/>
              </a:spcAft>
            </a:pPr>
            <a:r>
              <a:rPr sz="6600" b="1" i="0">
                <a:solidFill>
                  <a:srgbClr val="522398"/>
                </a:solidFill>
                <a:latin typeface="Calibri"/>
              </a:rPr>
              <a:t>48</a:t>
            </a:r>
          </a:p>
        </p:txBody>
      </p:sp>
      <p:sp>
        <p:nvSpPr>
          <p:cNvPr id="34" name="TextBox 33"/>
          <p:cNvSpPr txBox="1"/>
          <p:nvPr/>
        </p:nvSpPr>
        <p:spPr>
          <a:xfrm>
            <a:off x="7909560" y="27284172"/>
            <a:ext cx="2651760" cy="1190548"/>
          </a:xfrm>
          <a:prstGeom prst="rect">
            <a:avLst/>
          </a:prstGeom>
          <a:noFill/>
        </p:spPr>
        <p:txBody>
          <a:bodyPr wrap="square" anchor="t" lIns="0" rIns="0" tIns="0" bIns="0">
            <a:spAutoFit/>
          </a:bodyPr>
          <a:lstStyle/>
          <a:p>
            <a:pPr algn="ctr">
              <a:lnSpc>
                <a:spcPct val="100000"/>
              </a:lnSpc>
              <a:spcAft>
                <a:spcPts val="0"/>
              </a:spcAft>
            </a:pPr>
            <a:r>
              <a:rPr sz="2500" b="0" i="0">
                <a:solidFill>
                  <a:srgbClr val="1F2933"/>
                </a:solidFill>
                <a:latin typeface="Calibri"/>
              </a:rPr>
              <a:t>readings per patient to review by hand</a:t>
            </a:r>
          </a:p>
        </p:txBody>
      </p:sp>
      <p:pic>
        <p:nvPicPr>
          <p:cNvPr id="35" name="Picture 34" descr="topic6_fig8_office_vs_abpm.png"/>
          <p:cNvPicPr>
            <a:picLocks noChangeAspect="1"/>
          </p:cNvPicPr>
          <p:nvPr/>
        </p:nvPicPr>
        <p:blipFill>
          <a:blip r:embed="rId3"/>
          <a:stretch>
            <a:fillRect/>
          </a:stretch>
        </p:blipFill>
        <p:spPr>
          <a:xfrm>
            <a:off x="1554480" y="28925520"/>
            <a:ext cx="8595360" cy="6294290"/>
          </a:xfrm>
          <a:prstGeom prst="rect">
            <a:avLst/>
          </a:prstGeom>
          <a:ln w="31750">
            <a:solidFill>
              <a:srgbClr val="D9CCEB"/>
            </a:solidFill>
          </a:ln>
        </p:spPr>
      </p:pic>
      <p:sp>
        <p:nvSpPr>
          <p:cNvPr id="36" name="TextBox 35"/>
          <p:cNvSpPr txBox="1"/>
          <p:nvPr/>
        </p:nvSpPr>
        <p:spPr>
          <a:xfrm>
            <a:off x="914400" y="35402690"/>
            <a:ext cx="9875520" cy="1280160"/>
          </a:xfrm>
          <a:prstGeom prst="rect">
            <a:avLst/>
          </a:prstGeom>
          <a:noFill/>
        </p:spPr>
        <p:txBody>
          <a:bodyPr wrap="square" anchor="t" lIns="0" rIns="0" tIns="0" bIns="0">
            <a:spAutoFit/>
          </a:bodyPr>
          <a:lstStyle/>
          <a:p>
            <a:pPr algn="l">
              <a:lnSpc>
                <a:spcPct val="100000"/>
              </a:lnSpc>
              <a:spcAft>
                <a:spcPts val="0"/>
              </a:spcAft>
            </a:pPr>
            <a:r>
              <a:rPr sz="2500" b="0" i="1">
                <a:solidFill>
                  <a:srgbClr val="52606D"/>
                </a:solidFill>
                <a:latin typeface="Calibri"/>
              </a:rPr>
              <a:t>Each dot is a simulated patient. Orange: high in clinic but not hypertensive (white-coat). Green: normal in clinic but hypertensive (masked).</a:t>
            </a:r>
          </a:p>
        </p:txBody>
      </p:sp>
      <p:sp>
        <p:nvSpPr>
          <p:cNvPr id="37" name="Rounded Rectangle 36"/>
          <p:cNvSpPr/>
          <p:nvPr/>
        </p:nvSpPr>
        <p:spPr>
          <a:xfrm>
            <a:off x="11521440" y="7040880"/>
            <a:ext cx="9875520" cy="1234440"/>
          </a:xfrm>
          <a:prstGeom prst="roundRect">
            <a:avLst>
              <a:gd name="adj" fmla="val 18000"/>
            </a:avLst>
          </a:prstGeom>
          <a:solidFill>
            <a:srgbClr val="522398"/>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wrap="square"/>
          <a:lstStyle/>
          <a:p>
            <a:pPr algn="l"/>
            <a:r>
              <a:rPr sz="4600" b="1">
                <a:solidFill>
                  <a:srgbClr val="FFFFFF"/>
                </a:solidFill>
                <a:latin typeface="Calibri"/>
              </a:rPr>
              <a:t>3  Functional Requirements, Specifications and Standards</a:t>
            </a:r>
          </a:p>
        </p:txBody>
      </p:sp>
      <p:graphicFrame>
        <p:nvGraphicFramePr>
          <p:cNvPr id="38" name="Table 37"/>
          <p:cNvGraphicFramePr>
            <a:graphicFrameLocks noGrp="1"/>
          </p:cNvGraphicFramePr>
          <p:nvPr/>
        </p:nvGraphicFramePr>
        <p:xfrm>
          <a:off x="11521440" y="8686800"/>
          <a:ext cx="9875520" cy="9951720"/>
        </p:xfrm>
        <a:graphic>
          <a:graphicData uri="http://schemas.openxmlformats.org/drawingml/2006/table">
            <a:tbl>
              <a:tblPr firstRow="1" bandRow="1">
                <a:tableStyleId>{5C22544A-7EE6-4342-B048-85BDC9FD1C3A}</a:tableStyleId>
              </a:tblPr>
              <a:tblGrid>
                <a:gridCol w="2743200"/>
                <a:gridCol w="3840480"/>
                <a:gridCol w="3291840"/>
              </a:tblGrid>
              <a:tr h="868680">
                <a:tc>
                  <a:txBody>
                    <a:bodyPr/>
                    <a:lstStyle/>
                    <a:p>
                      <a:r>
                        <a:rPr sz="2500" b="1">
                          <a:solidFill>
                            <a:srgbClr val="FFFFFF"/>
                          </a:solidFill>
                          <a:latin typeface="Calibri"/>
                        </a:rPr>
                        <a:t>Requirement</a:t>
                      </a:r>
                    </a:p>
                  </a:txBody>
                  <a:tcPr marL="137160" marR="137160" marT="91440" marB="91440" anchor="ctr">
                    <a:solidFill>
                      <a:srgbClr val="522398"/>
                    </a:solidFill>
                  </a:tcPr>
                </a:tc>
                <a:tc>
                  <a:txBody>
                    <a:bodyPr/>
                    <a:lstStyle/>
                    <a:p>
                      <a:r>
                        <a:rPr sz="2500" b="1">
                          <a:solidFill>
                            <a:srgbClr val="FFFFFF"/>
                          </a:solidFill>
                          <a:latin typeface="Calibri"/>
                        </a:rPr>
                        <a:t>Specification as built</a:t>
                      </a:r>
                    </a:p>
                  </a:txBody>
                  <a:tcPr marL="137160" marR="137160" marT="91440" marB="91440" anchor="ctr">
                    <a:solidFill>
                      <a:srgbClr val="522398"/>
                    </a:solidFill>
                  </a:tcPr>
                </a:tc>
                <a:tc>
                  <a:txBody>
                    <a:bodyPr/>
                    <a:lstStyle/>
                    <a:p>
                      <a:r>
                        <a:rPr sz="2500" b="1">
                          <a:solidFill>
                            <a:srgbClr val="FFFFFF"/>
                          </a:solidFill>
                          <a:latin typeface="Calibri"/>
                        </a:rPr>
                        <a:t>Standard or evidence</a:t>
                      </a:r>
                    </a:p>
                  </a:txBody>
                  <a:tcPr marL="137160" marR="137160" marT="91440" marB="91440" anchor="ctr">
                    <a:solidFill>
                      <a:srgbClr val="522398"/>
                    </a:solidFill>
                  </a:tcPr>
                </a:tc>
              </a:tr>
              <a:tr h="1630680">
                <a:tc>
                  <a:txBody>
                    <a:bodyPr/>
                    <a:lstStyle/>
                    <a:p>
                      <a:r>
                        <a:rPr sz="2300" b="1">
                          <a:solidFill>
                            <a:srgbClr val="522398"/>
                          </a:solidFill>
                          <a:latin typeface="Calibri"/>
                        </a:rPr>
                        <a:t>Stage a patient from a 24-hour record</a:t>
                      </a:r>
                    </a:p>
                  </a:txBody>
                  <a:tcPr marL="137160" marR="137160" marT="91440" marB="91440" anchor="ctr">
                    <a:solidFill>
                      <a:srgbClr val="F3EEF8"/>
                    </a:solidFill>
                  </a:tcPr>
                </a:tc>
                <a:tc>
                  <a:txBody>
                    <a:bodyPr/>
                    <a:lstStyle/>
                    <a:p>
                      <a:r>
                        <a:rPr sz="2300" b="0">
                          <a:solidFill>
                            <a:srgbClr val="1F2933"/>
                          </a:solidFill>
                          <a:latin typeface="Calibri"/>
                        </a:rPr>
                        <a:t>One API call takes about 48 readings and returns Normal, Elevated, Stage 1 or Stage 2</a:t>
                      </a:r>
                    </a:p>
                  </a:txBody>
                  <a:tcPr marL="137160" marR="137160" marT="91440" marB="91440" anchor="ctr">
                    <a:solidFill>
                      <a:srgbClr val="F3EEF8"/>
                    </a:solidFill>
                  </a:tcPr>
                </a:tc>
                <a:tc>
                  <a:txBody>
                    <a:bodyPr/>
                    <a:lstStyle/>
                    <a:p>
                      <a:r>
                        <a:rPr sz="2300" b="0">
                          <a:solidFill>
                            <a:srgbClr val="1F2933"/>
                          </a:solidFill>
                          <a:latin typeface="Calibri"/>
                        </a:rPr>
                        <a:t>2017 ACC/AHA staging (Whelton et al., 2018)</a:t>
                      </a:r>
                    </a:p>
                  </a:txBody>
                  <a:tcPr marL="137160" marR="137160" marT="91440" marB="91440" anchor="ctr">
                    <a:solidFill>
                      <a:srgbClr val="F3EEF8"/>
                    </a:solidFill>
                  </a:tcPr>
                </a:tc>
              </a:tr>
              <a:tr h="1280160">
                <a:tc>
                  <a:txBody>
                    <a:bodyPr/>
                    <a:lstStyle/>
                    <a:p>
                      <a:r>
                        <a:rPr sz="2300" b="1">
                          <a:solidFill>
                            <a:srgbClr val="522398"/>
                          </a:solidFill>
                          <a:latin typeface="Calibri"/>
                        </a:rPr>
                        <a:t>Explain every result</a:t>
                      </a:r>
                    </a:p>
                  </a:txBody>
                  <a:tcPr marL="137160" marR="137160" marT="91440" marB="91440" anchor="ctr">
                    <a:solidFill>
                      <a:srgbClr val="FFFFFF"/>
                    </a:solidFill>
                  </a:tcPr>
                </a:tc>
                <a:tc>
                  <a:txBody>
                    <a:bodyPr/>
                    <a:lstStyle/>
                    <a:p>
                      <a:r>
                        <a:rPr sz="2300" b="0">
                          <a:solidFill>
                            <a:srgbClr val="1F2933"/>
                          </a:solidFill>
                          <a:latin typeface="Calibri"/>
                        </a:rPr>
                        <a:t>Top four contributing measurements plus a plain-English summary</a:t>
                      </a:r>
                    </a:p>
                  </a:txBody>
                  <a:tcPr marL="137160" marR="137160" marT="91440" marB="91440" anchor="ctr">
                    <a:solidFill>
                      <a:srgbClr val="FFFFFF"/>
                    </a:solidFill>
                  </a:tcPr>
                </a:tc>
                <a:tc>
                  <a:txBody>
                    <a:bodyPr/>
                    <a:lstStyle/>
                    <a:p>
                      <a:r>
                        <a:rPr sz="2300" b="0">
                          <a:solidFill>
                            <a:srgbClr val="1F2933"/>
                          </a:solidFill>
                          <a:latin typeface="Calibri"/>
                        </a:rPr>
                        <a:t>TreeSHAP attributions (Lundberg et al., 2020)</a:t>
                      </a:r>
                    </a:p>
                  </a:txBody>
                  <a:tcPr marL="137160" marR="137160" marT="91440" marB="91440" anchor="ctr">
                    <a:solidFill>
                      <a:srgbClr val="FFFFFF"/>
                    </a:solidFill>
                  </a:tcPr>
                </a:tc>
              </a:tr>
              <a:tr h="1630680">
                <a:tc>
                  <a:txBody>
                    <a:bodyPr/>
                    <a:lstStyle/>
                    <a:p>
                      <a:r>
                        <a:rPr sz="2300" b="1">
                          <a:solidFill>
                            <a:srgbClr val="522398"/>
                          </a:solidFill>
                          <a:latin typeface="Calibri"/>
                        </a:rPr>
                        <a:t>Give trustworthy confidence</a:t>
                      </a:r>
                    </a:p>
                  </a:txBody>
                  <a:tcPr marL="137160" marR="137160" marT="91440" marB="91440" anchor="ctr">
                    <a:solidFill>
                      <a:srgbClr val="F3EEF8"/>
                    </a:solidFill>
                  </a:tcPr>
                </a:tc>
                <a:tc>
                  <a:txBody>
                    <a:bodyPr/>
                    <a:lstStyle/>
                    <a:p>
                      <a:r>
                        <a:rPr sz="2300" b="0">
                          <a:solidFill>
                            <a:srgbClr val="1F2933"/>
                          </a:solidFill>
                          <a:latin typeface="Calibri"/>
                        </a:rPr>
                        <a:t>Calibrated probabilities (error 0.014); results under 65% flagged for review</a:t>
                      </a:r>
                    </a:p>
                  </a:txBody>
                  <a:tcPr marL="137160" marR="137160" marT="91440" marB="91440" anchor="ctr">
                    <a:solidFill>
                      <a:srgbClr val="F3EEF8"/>
                    </a:solidFill>
                  </a:tcPr>
                </a:tc>
                <a:tc>
                  <a:txBody>
                    <a:bodyPr/>
                    <a:lstStyle/>
                    <a:p>
                      <a:r>
                        <a:rPr sz="2300" b="0">
                          <a:solidFill>
                            <a:srgbClr val="1F2933"/>
                          </a:solidFill>
                          <a:latin typeface="Calibri"/>
                        </a:rPr>
                        <a:t>Reporting guided by TRIPOD+AI (Collins et al., 2024)</a:t>
                      </a:r>
                    </a:p>
                  </a:txBody>
                  <a:tcPr marL="137160" marR="137160" marT="91440" marB="91440" anchor="ctr">
                    <a:solidFill>
                      <a:srgbClr val="F3EEF8"/>
                    </a:solidFill>
                  </a:tcPr>
                </a:tc>
              </a:tr>
              <a:tr h="1280160">
                <a:tc>
                  <a:txBody>
                    <a:bodyPr/>
                    <a:lstStyle/>
                    <a:p>
                      <a:r>
                        <a:rPr sz="2300" b="1">
                          <a:solidFill>
                            <a:srgbClr val="522398"/>
                          </a:solidFill>
                          <a:latin typeface="Calibri"/>
                        </a:rPr>
                        <a:t>Respond within 200 ms</a:t>
                      </a:r>
                    </a:p>
                  </a:txBody>
                  <a:tcPr marL="137160" marR="137160" marT="91440" marB="91440" anchor="ctr">
                    <a:solidFill>
                      <a:srgbClr val="FFFFFF"/>
                    </a:solidFill>
                  </a:tcPr>
                </a:tc>
                <a:tc>
                  <a:txBody>
                    <a:bodyPr/>
                    <a:lstStyle/>
                    <a:p>
                      <a:r>
                        <a:rPr sz="2300" b="0">
                          <a:solidFill>
                            <a:srgbClr val="1F2933"/>
                          </a:solidFill>
                          <a:latin typeface="Calibri"/>
                        </a:rPr>
                        <a:t>Measured 22 ms for prediction plus explanation</a:t>
                      </a:r>
                    </a:p>
                  </a:txBody>
                  <a:tcPr marL="137160" marR="137160" marT="91440" marB="91440" anchor="ctr">
                    <a:solidFill>
                      <a:srgbClr val="FFFFFF"/>
                    </a:solidFill>
                  </a:tcPr>
                </a:tc>
                <a:tc>
                  <a:txBody>
                    <a:bodyPr/>
                    <a:lstStyle/>
                    <a:p>
                      <a:r>
                        <a:rPr sz="2300" b="0">
                          <a:solidFill>
                            <a:srgbClr val="1F2933"/>
                          </a:solidFill>
                          <a:latin typeface="Calibri"/>
                        </a:rPr>
                        <a:t>Project service-level objective</a:t>
                      </a:r>
                    </a:p>
                  </a:txBody>
                  <a:tcPr marL="137160" marR="137160" marT="91440" marB="91440" anchor="ctr">
                    <a:solidFill>
                      <a:srgbClr val="FFFFFF"/>
                    </a:solidFill>
                  </a:tcPr>
                </a:tc>
              </a:tr>
              <a:tr h="1981200">
                <a:tc>
                  <a:txBody>
                    <a:bodyPr/>
                    <a:lstStyle/>
                    <a:p>
                      <a:r>
                        <a:rPr sz="2300" b="1">
                          <a:solidFill>
                            <a:srgbClr val="522398"/>
                          </a:solidFill>
                          <a:latin typeface="Calibri"/>
                        </a:rPr>
                        <a:t>Protect patient data</a:t>
                      </a:r>
                    </a:p>
                  </a:txBody>
                  <a:tcPr marL="137160" marR="137160" marT="91440" marB="91440" anchor="ctr">
                    <a:solidFill>
                      <a:srgbClr val="F3EEF8"/>
                    </a:solidFill>
                  </a:tcPr>
                </a:tc>
                <a:tc>
                  <a:txBody>
                    <a:bodyPr/>
                    <a:lstStyle/>
                    <a:p>
                      <a:r>
                        <a:rPr sz="2300" b="0">
                          <a:solidFill>
                            <a:srgbClr val="1F2933"/>
                          </a:solidFill>
                          <a:latin typeface="Calibri"/>
                        </a:rPr>
                        <a:t>Hashed passwords, role-based access tokens, rate limiting, encrypted patient columns</a:t>
                      </a:r>
                    </a:p>
                  </a:txBody>
                  <a:tcPr marL="137160" marR="137160" marT="91440" marB="91440" anchor="ctr">
                    <a:solidFill>
                      <a:srgbClr val="F3EEF8"/>
                    </a:solidFill>
                  </a:tcPr>
                </a:tc>
                <a:tc>
                  <a:txBody>
                    <a:bodyPr/>
                    <a:lstStyle/>
                    <a:p>
                      <a:r>
                        <a:rPr sz="2300" b="0">
                          <a:solidFill>
                            <a:srgbClr val="1F2933"/>
                          </a:solidFill>
                          <a:latin typeface="Calibri"/>
                        </a:rPr>
                        <a:t>HIPAA Security Rule safeguards (U.S. Department of Health and Human Services, 2013)</a:t>
                      </a:r>
                    </a:p>
                  </a:txBody>
                  <a:tcPr marL="137160" marR="137160" marT="91440" marB="91440" anchor="ctr">
                    <a:solidFill>
                      <a:srgbClr val="F3EEF8"/>
                    </a:solidFill>
                  </a:tcPr>
                </a:tc>
              </a:tr>
              <a:tr h="1280160">
                <a:tc>
                  <a:txBody>
                    <a:bodyPr/>
                    <a:lstStyle/>
                    <a:p>
                      <a:r>
                        <a:rPr sz="2300" b="1">
                          <a:solidFill>
                            <a:srgbClr val="522398"/>
                          </a:solidFill>
                          <a:latin typeface="Calibri"/>
                        </a:rPr>
                        <a:t>Be reproducible and tested</a:t>
                      </a:r>
                    </a:p>
                  </a:txBody>
                  <a:tcPr marL="137160" marR="137160" marT="91440" marB="91440" anchor="ctr">
                    <a:solidFill>
                      <a:srgbClr val="FFFFFF"/>
                    </a:solidFill>
                  </a:tcPr>
                </a:tc>
                <a:tc>
                  <a:txBody>
                    <a:bodyPr/>
                    <a:lstStyle/>
                    <a:p>
                      <a:r>
                        <a:rPr sz="2300" b="0">
                          <a:solidFill>
                            <a:srgbClr val="1F2933"/>
                          </a:solidFill>
                          <a:latin typeface="Calibri"/>
                        </a:rPr>
                        <a:t>Fixed random seeds, 44 automated tests, tagged release</a:t>
                      </a:r>
                    </a:p>
                  </a:txBody>
                  <a:tcPr marL="137160" marR="137160" marT="91440" marB="91440" anchor="ctr">
                    <a:solidFill>
                      <a:srgbClr val="FFFFFF"/>
                    </a:solidFill>
                  </a:tcPr>
                </a:tc>
                <a:tc>
                  <a:txBody>
                    <a:bodyPr/>
                    <a:lstStyle/>
                    <a:p>
                      <a:r>
                        <a:rPr sz="2300" b="0">
                          <a:solidFill>
                            <a:srgbClr val="1F2933"/>
                          </a:solidFill>
                          <a:latin typeface="Calibri"/>
                        </a:rPr>
                        <a:t>Documented in a model card (Mitchell et al., 2019)</a:t>
                      </a:r>
                    </a:p>
                  </a:txBody>
                  <a:tcPr marL="137160" marR="137160" marT="91440" marB="91440" anchor="ctr">
                    <a:solidFill>
                      <a:srgbClr val="FFFFFF"/>
                    </a:solidFill>
                  </a:tcPr>
                </a:tc>
              </a:tr>
            </a:tbl>
          </a:graphicData>
        </a:graphic>
      </p:graphicFrame>
      <p:sp>
        <p:nvSpPr>
          <p:cNvPr id="39" name="Rounded Rectangle 38"/>
          <p:cNvSpPr/>
          <p:nvPr/>
        </p:nvSpPr>
        <p:spPr>
          <a:xfrm>
            <a:off x="11521440" y="19187160"/>
            <a:ext cx="9875520" cy="1234440"/>
          </a:xfrm>
          <a:prstGeom prst="roundRect">
            <a:avLst>
              <a:gd name="adj" fmla="val 18000"/>
            </a:avLst>
          </a:prstGeom>
          <a:solidFill>
            <a:srgbClr val="522398"/>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wrap="square"/>
          <a:lstStyle/>
          <a:p>
            <a:pPr algn="l"/>
            <a:r>
              <a:rPr sz="4600" b="1">
                <a:solidFill>
                  <a:srgbClr val="FFFFFF"/>
                </a:solidFill>
                <a:latin typeface="Calibri"/>
              </a:rPr>
              <a:t>4  Design Process</a:t>
            </a:r>
          </a:p>
        </p:txBody>
      </p:sp>
      <p:sp>
        <p:nvSpPr>
          <p:cNvPr id="40" name="TextBox 39"/>
          <p:cNvSpPr txBox="1"/>
          <p:nvPr/>
        </p:nvSpPr>
        <p:spPr>
          <a:xfrm>
            <a:off x="11521440" y="20833080"/>
            <a:ext cx="9875520" cy="1041400"/>
          </a:xfrm>
          <a:prstGeom prst="rect">
            <a:avLst/>
          </a:prstGeom>
          <a:noFill/>
        </p:spPr>
        <p:txBody>
          <a:bodyPr wrap="square" anchor="t" lIns="0" rIns="0" tIns="0" bIns="0">
            <a:spAutoFit/>
          </a:bodyPr>
          <a:lstStyle/>
          <a:p>
            <a:pPr algn="l">
              <a:lnSpc>
                <a:spcPct val="100000"/>
              </a:lnSpc>
              <a:spcAft>
                <a:spcPts val="1000"/>
              </a:spcAft>
            </a:pPr>
            <a:r>
              <a:rPr sz="3000" b="0" i="0">
                <a:solidFill>
                  <a:srgbClr val="1F2933"/>
                </a:solidFill>
                <a:latin typeface="Calibri"/>
              </a:rPr>
              <a:t>Six stages, reshaped by two reviews: professor feedback on holdout leakage, then a self-audit.</a:t>
            </a:r>
          </a:p>
        </p:txBody>
      </p:sp>
      <p:sp>
        <p:nvSpPr>
          <p:cNvPr id="41" name="Rectangle 40"/>
          <p:cNvSpPr/>
          <p:nvPr/>
        </p:nvSpPr>
        <p:spPr>
          <a:xfrm>
            <a:off x="11942064" y="22423120"/>
            <a:ext cx="73152" cy="7315200"/>
          </a:xfrm>
          <a:prstGeom prst="rect">
            <a:avLst/>
          </a:prstGeom>
          <a:solidFill>
            <a:srgbClr val="D9CC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11521440" y="21965920"/>
            <a:ext cx="914400" cy="914400"/>
          </a:xfrm>
          <a:prstGeom prst="ellipse">
            <a:avLst/>
          </a:prstGeom>
          <a:solidFill>
            <a:srgbClr val="52239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3600" b="1">
                <a:solidFill>
                  <a:srgbClr val="FFFFFF"/>
                </a:solidFill>
                <a:latin typeface="Calibri"/>
              </a:rPr>
              <a:t>1</a:t>
            </a:r>
          </a:p>
        </p:txBody>
      </p:sp>
      <p:sp>
        <p:nvSpPr>
          <p:cNvPr id="43" name="TextBox 42"/>
          <p:cNvSpPr txBox="1"/>
          <p:nvPr/>
        </p:nvSpPr>
        <p:spPr>
          <a:xfrm>
            <a:off x="12801600" y="21920200"/>
            <a:ext cx="8595360" cy="1463040"/>
          </a:xfrm>
          <a:prstGeom prst="rect">
            <a:avLst/>
          </a:prstGeom>
          <a:noFill/>
        </p:spPr>
        <p:txBody>
          <a:bodyPr wrap="square" anchor="t" lIns="0" rIns="0" tIns="0" bIns="0">
            <a:spAutoFit/>
          </a:bodyPr>
          <a:lstStyle/>
          <a:p>
            <a:pPr algn="l">
              <a:lnSpc>
                <a:spcPct val="100000"/>
              </a:lnSpc>
              <a:spcAft>
                <a:spcPts val="200"/>
              </a:spcAft>
            </a:pPr>
            <a:r>
              <a:rPr sz="3000" b="1" i="0">
                <a:solidFill>
                  <a:srgbClr val="522398"/>
                </a:solidFill>
                <a:latin typeface="Calibri"/>
              </a:rPr>
              <a:t>Define requirements</a:t>
            </a:r>
          </a:p>
          <a:p>
            <a:pPr algn="l">
              <a:lnSpc>
                <a:spcPct val="100000"/>
              </a:lnSpc>
              <a:spcAft>
                <a:spcPts val="200"/>
              </a:spcAft>
            </a:pPr>
            <a:r>
              <a:rPr sz="2500" b="0" i="0">
                <a:solidFill>
                  <a:srgbClr val="1F2933"/>
                </a:solidFill>
                <a:latin typeface="Calibri"/>
              </a:rPr>
              <a:t>Clinical need, staging rules and security needs set first</a:t>
            </a:r>
          </a:p>
        </p:txBody>
      </p:sp>
      <p:sp>
        <p:nvSpPr>
          <p:cNvPr id="44" name="Oval 43"/>
          <p:cNvSpPr/>
          <p:nvPr/>
        </p:nvSpPr>
        <p:spPr>
          <a:xfrm>
            <a:off x="11521440" y="23428960"/>
            <a:ext cx="914400" cy="914400"/>
          </a:xfrm>
          <a:prstGeom prst="ellipse">
            <a:avLst/>
          </a:prstGeom>
          <a:solidFill>
            <a:srgbClr val="52239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3600" b="1">
                <a:solidFill>
                  <a:srgbClr val="FFFFFF"/>
                </a:solidFill>
                <a:latin typeface="Calibri"/>
              </a:rPr>
              <a:t>2</a:t>
            </a:r>
          </a:p>
        </p:txBody>
      </p:sp>
      <p:sp>
        <p:nvSpPr>
          <p:cNvPr id="45" name="TextBox 44"/>
          <p:cNvSpPr txBox="1"/>
          <p:nvPr/>
        </p:nvSpPr>
        <p:spPr>
          <a:xfrm>
            <a:off x="12801600" y="23383240"/>
            <a:ext cx="8595360" cy="1463040"/>
          </a:xfrm>
          <a:prstGeom prst="rect">
            <a:avLst/>
          </a:prstGeom>
          <a:noFill/>
        </p:spPr>
        <p:txBody>
          <a:bodyPr wrap="square" anchor="t" lIns="0" rIns="0" tIns="0" bIns="0">
            <a:spAutoFit/>
          </a:bodyPr>
          <a:lstStyle/>
          <a:p>
            <a:pPr algn="l">
              <a:lnSpc>
                <a:spcPct val="100000"/>
              </a:lnSpc>
              <a:spcAft>
                <a:spcPts val="200"/>
              </a:spcAft>
            </a:pPr>
            <a:r>
              <a:rPr sz="3000" b="1" i="0">
                <a:solidFill>
                  <a:srgbClr val="522398"/>
                </a:solidFill>
                <a:latin typeface="Calibri"/>
              </a:rPr>
              <a:t>Simulate and prepare data</a:t>
            </a:r>
          </a:p>
          <a:p>
            <a:pPr algn="l">
              <a:lnSpc>
                <a:spcPct val="100000"/>
              </a:lnSpc>
              <a:spcAft>
                <a:spcPts val="200"/>
              </a:spcAft>
            </a:pPr>
            <a:r>
              <a:rPr sz="2500" b="0" i="0">
                <a:solidFill>
                  <a:srgbClr val="1F2933"/>
                </a:solidFill>
                <a:latin typeface="Calibri"/>
              </a:rPr>
              <a:t>1,800 patients, 48 readings each, with noise, artifacts and gaps</a:t>
            </a:r>
          </a:p>
        </p:txBody>
      </p:sp>
      <p:sp>
        <p:nvSpPr>
          <p:cNvPr id="46" name="Oval 45"/>
          <p:cNvSpPr/>
          <p:nvPr/>
        </p:nvSpPr>
        <p:spPr>
          <a:xfrm>
            <a:off x="11521440" y="24892000"/>
            <a:ext cx="914400" cy="914400"/>
          </a:xfrm>
          <a:prstGeom prst="ellipse">
            <a:avLst/>
          </a:prstGeom>
          <a:solidFill>
            <a:srgbClr val="52239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3600" b="1">
                <a:solidFill>
                  <a:srgbClr val="FFFFFF"/>
                </a:solidFill>
                <a:latin typeface="Calibri"/>
              </a:rPr>
              <a:t>3</a:t>
            </a:r>
          </a:p>
        </p:txBody>
      </p:sp>
      <p:sp>
        <p:nvSpPr>
          <p:cNvPr id="47" name="TextBox 46"/>
          <p:cNvSpPr txBox="1"/>
          <p:nvPr/>
        </p:nvSpPr>
        <p:spPr>
          <a:xfrm>
            <a:off x="12801600" y="24846280"/>
            <a:ext cx="8595360" cy="1463040"/>
          </a:xfrm>
          <a:prstGeom prst="rect">
            <a:avLst/>
          </a:prstGeom>
          <a:noFill/>
        </p:spPr>
        <p:txBody>
          <a:bodyPr wrap="square" anchor="t" lIns="0" rIns="0" tIns="0" bIns="0">
            <a:spAutoFit/>
          </a:bodyPr>
          <a:lstStyle/>
          <a:p>
            <a:pPr algn="l">
              <a:lnSpc>
                <a:spcPct val="100000"/>
              </a:lnSpc>
              <a:spcAft>
                <a:spcPts val="200"/>
              </a:spcAft>
            </a:pPr>
            <a:r>
              <a:rPr sz="3000" b="1" i="0">
                <a:solidFill>
                  <a:srgbClr val="522398"/>
                </a:solidFill>
                <a:latin typeface="Calibri"/>
              </a:rPr>
              <a:t>Select the model fairly</a:t>
            </a:r>
          </a:p>
          <a:p>
            <a:pPr algn="l">
              <a:lnSpc>
                <a:spcPct val="100000"/>
              </a:lnSpc>
              <a:spcAft>
                <a:spcPts val="200"/>
              </a:spcAft>
            </a:pPr>
            <a:r>
              <a:rPr sz="2500" b="0" i="0">
                <a:solidFill>
                  <a:srgbClr val="1F2933"/>
                </a:solidFill>
                <a:latin typeface="Calibri"/>
              </a:rPr>
              <a:t>Choices by cross-validation on training data only; 540 patients held back for one final test</a:t>
            </a:r>
          </a:p>
        </p:txBody>
      </p:sp>
      <p:sp>
        <p:nvSpPr>
          <p:cNvPr id="48" name="Oval 47"/>
          <p:cNvSpPr/>
          <p:nvPr/>
        </p:nvSpPr>
        <p:spPr>
          <a:xfrm>
            <a:off x="11521440" y="26355040"/>
            <a:ext cx="914400" cy="914400"/>
          </a:xfrm>
          <a:prstGeom prst="ellipse">
            <a:avLst/>
          </a:prstGeom>
          <a:solidFill>
            <a:srgbClr val="52239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3600" b="1">
                <a:solidFill>
                  <a:srgbClr val="FFFFFF"/>
                </a:solidFill>
                <a:latin typeface="Calibri"/>
              </a:rPr>
              <a:t>4</a:t>
            </a:r>
          </a:p>
        </p:txBody>
      </p:sp>
      <p:sp>
        <p:nvSpPr>
          <p:cNvPr id="49" name="TextBox 48"/>
          <p:cNvSpPr txBox="1"/>
          <p:nvPr/>
        </p:nvSpPr>
        <p:spPr>
          <a:xfrm>
            <a:off x="12801600" y="26309320"/>
            <a:ext cx="8595360" cy="1463040"/>
          </a:xfrm>
          <a:prstGeom prst="rect">
            <a:avLst/>
          </a:prstGeom>
          <a:noFill/>
        </p:spPr>
        <p:txBody>
          <a:bodyPr wrap="square" anchor="t" lIns="0" rIns="0" tIns="0" bIns="0">
            <a:spAutoFit/>
          </a:bodyPr>
          <a:lstStyle/>
          <a:p>
            <a:pPr algn="l">
              <a:lnSpc>
                <a:spcPct val="100000"/>
              </a:lnSpc>
              <a:spcAft>
                <a:spcPts val="200"/>
              </a:spcAft>
            </a:pPr>
            <a:r>
              <a:rPr sz="3000" b="1" i="0">
                <a:solidFill>
                  <a:srgbClr val="522398"/>
                </a:solidFill>
                <a:latin typeface="Calibri"/>
              </a:rPr>
              <a:t>Build the service</a:t>
            </a:r>
          </a:p>
          <a:p>
            <a:pPr algn="l">
              <a:lnSpc>
                <a:spcPct val="100000"/>
              </a:lnSpc>
              <a:spcAft>
                <a:spcPts val="200"/>
              </a:spcAft>
            </a:pPr>
            <a:r>
              <a:rPr sz="2500" b="0" i="0">
                <a:solidFill>
                  <a:srgbClr val="1F2933"/>
                </a:solidFill>
                <a:latin typeface="Calibri"/>
              </a:rPr>
              <a:t>Secured API and dashboard page; model, model card and tests released together</a:t>
            </a:r>
          </a:p>
        </p:txBody>
      </p:sp>
      <p:sp>
        <p:nvSpPr>
          <p:cNvPr id="50" name="Oval 49"/>
          <p:cNvSpPr/>
          <p:nvPr/>
        </p:nvSpPr>
        <p:spPr>
          <a:xfrm>
            <a:off x="11521440" y="27818080"/>
            <a:ext cx="914400" cy="914400"/>
          </a:xfrm>
          <a:prstGeom prst="ellipse">
            <a:avLst/>
          </a:prstGeom>
          <a:solidFill>
            <a:srgbClr val="52239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3600" b="1">
                <a:solidFill>
                  <a:srgbClr val="FFFFFF"/>
                </a:solidFill>
                <a:latin typeface="Calibri"/>
              </a:rPr>
              <a:t>5</a:t>
            </a:r>
          </a:p>
        </p:txBody>
      </p:sp>
      <p:sp>
        <p:nvSpPr>
          <p:cNvPr id="51" name="TextBox 50"/>
          <p:cNvSpPr txBox="1"/>
          <p:nvPr/>
        </p:nvSpPr>
        <p:spPr>
          <a:xfrm>
            <a:off x="12801600" y="27772360"/>
            <a:ext cx="8595360" cy="1463040"/>
          </a:xfrm>
          <a:prstGeom prst="rect">
            <a:avLst/>
          </a:prstGeom>
          <a:noFill/>
        </p:spPr>
        <p:txBody>
          <a:bodyPr wrap="square" anchor="t" lIns="0" rIns="0" tIns="0" bIns="0">
            <a:spAutoFit/>
          </a:bodyPr>
          <a:lstStyle/>
          <a:p>
            <a:pPr algn="l">
              <a:lnSpc>
                <a:spcPct val="100000"/>
              </a:lnSpc>
              <a:spcAft>
                <a:spcPts val="200"/>
              </a:spcAft>
            </a:pPr>
            <a:r>
              <a:rPr sz="3000" b="1" i="0">
                <a:solidFill>
                  <a:srgbClr val="522398"/>
                </a:solidFill>
                <a:latin typeface="Calibri"/>
              </a:rPr>
              <a:t>Audit the whole project</a:t>
            </a:r>
          </a:p>
          <a:p>
            <a:pPr algn="l">
              <a:lnSpc>
                <a:spcPct val="100000"/>
              </a:lnSpc>
              <a:spcAft>
                <a:spcPts val="200"/>
              </a:spcAft>
            </a:pPr>
            <a:r>
              <a:rPr sz="2500" b="0" i="0">
                <a:solidFill>
                  <a:srgbClr val="1F2933"/>
                </a:solidFill>
                <a:latin typeface="Calibri"/>
              </a:rPr>
              <a:t>Claims checked against the code; security and evaluation gaps found and fixed</a:t>
            </a:r>
          </a:p>
        </p:txBody>
      </p:sp>
      <p:sp>
        <p:nvSpPr>
          <p:cNvPr id="52" name="Oval 51"/>
          <p:cNvSpPr/>
          <p:nvPr/>
        </p:nvSpPr>
        <p:spPr>
          <a:xfrm>
            <a:off x="11521440" y="29281120"/>
            <a:ext cx="914400" cy="914400"/>
          </a:xfrm>
          <a:prstGeom prst="ellipse">
            <a:avLst/>
          </a:prstGeom>
          <a:solidFill>
            <a:srgbClr val="52239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3600" b="1">
                <a:solidFill>
                  <a:srgbClr val="FFFFFF"/>
                </a:solidFill>
                <a:latin typeface="Calibri"/>
              </a:rPr>
              <a:t>6</a:t>
            </a:r>
          </a:p>
        </p:txBody>
      </p:sp>
      <p:sp>
        <p:nvSpPr>
          <p:cNvPr id="53" name="TextBox 52"/>
          <p:cNvSpPr txBox="1"/>
          <p:nvPr/>
        </p:nvSpPr>
        <p:spPr>
          <a:xfrm>
            <a:off x="12801600" y="29235400"/>
            <a:ext cx="8595360" cy="1463040"/>
          </a:xfrm>
          <a:prstGeom prst="rect">
            <a:avLst/>
          </a:prstGeom>
          <a:noFill/>
        </p:spPr>
        <p:txBody>
          <a:bodyPr wrap="square" anchor="t" lIns="0" rIns="0" tIns="0" bIns="0">
            <a:spAutoFit/>
          </a:bodyPr>
          <a:lstStyle/>
          <a:p>
            <a:pPr algn="l">
              <a:lnSpc>
                <a:spcPct val="100000"/>
              </a:lnSpc>
              <a:spcAft>
                <a:spcPts val="200"/>
              </a:spcAft>
            </a:pPr>
            <a:r>
              <a:rPr sz="3000" b="1" i="0">
                <a:solidFill>
                  <a:srgbClr val="522398"/>
                </a:solidFill>
                <a:latin typeface="Calibri"/>
              </a:rPr>
              <a:t>Report honestly</a:t>
            </a:r>
          </a:p>
          <a:p>
            <a:pPr algn="l">
              <a:lnSpc>
                <a:spcPct val="100000"/>
              </a:lnSpc>
              <a:spcAft>
                <a:spcPts val="200"/>
              </a:spcAft>
            </a:pPr>
            <a:r>
              <a:rPr sz="2500" b="0" i="0">
                <a:solidFill>
                  <a:srgbClr val="1F2933"/>
                </a:solidFill>
                <a:latin typeface="Calibri"/>
              </a:rPr>
              <a:t>Limits and open issues published with the results</a:t>
            </a:r>
          </a:p>
        </p:txBody>
      </p:sp>
      <p:pic>
        <p:nvPicPr>
          <p:cNvPr id="54" name="Picture 53" descr="topic7_architecture.png"/>
          <p:cNvPicPr>
            <a:picLocks noChangeAspect="1"/>
          </p:cNvPicPr>
          <p:nvPr/>
        </p:nvPicPr>
        <p:blipFill>
          <a:blip r:embed="rId4"/>
          <a:stretch>
            <a:fillRect/>
          </a:stretch>
        </p:blipFill>
        <p:spPr>
          <a:xfrm>
            <a:off x="11978640" y="30835600"/>
            <a:ext cx="8961120" cy="4971859"/>
          </a:xfrm>
          <a:prstGeom prst="rect">
            <a:avLst/>
          </a:prstGeom>
          <a:ln w="31750">
            <a:solidFill>
              <a:srgbClr val="D9CCEB"/>
            </a:solidFill>
          </a:ln>
        </p:spPr>
      </p:pic>
      <p:sp>
        <p:nvSpPr>
          <p:cNvPr id="55" name="TextBox 54"/>
          <p:cNvSpPr txBox="1"/>
          <p:nvPr/>
        </p:nvSpPr>
        <p:spPr>
          <a:xfrm>
            <a:off x="11521440" y="35990339"/>
            <a:ext cx="9875520" cy="899160"/>
          </a:xfrm>
          <a:prstGeom prst="rect">
            <a:avLst/>
          </a:prstGeom>
          <a:noFill/>
        </p:spPr>
        <p:txBody>
          <a:bodyPr wrap="square" anchor="t" lIns="0" rIns="0" tIns="0" bIns="0">
            <a:spAutoFit/>
          </a:bodyPr>
          <a:lstStyle/>
          <a:p>
            <a:pPr algn="l">
              <a:lnSpc>
                <a:spcPct val="100000"/>
              </a:lnSpc>
              <a:spcAft>
                <a:spcPts val="0"/>
              </a:spcAft>
            </a:pPr>
            <a:r>
              <a:rPr sz="2500" b="0" i="1">
                <a:solidFill>
                  <a:srgbClr val="52606D"/>
                </a:solidFill>
                <a:latin typeface="Calibri"/>
              </a:rPr>
              <a:t>System as built. The dashed box (clinician override logging and retraining) is planned, not implemented.</a:t>
            </a:r>
          </a:p>
        </p:txBody>
      </p:sp>
      <p:sp>
        <p:nvSpPr>
          <p:cNvPr id="56" name="Rounded Rectangle 55"/>
          <p:cNvSpPr/>
          <p:nvPr/>
        </p:nvSpPr>
        <p:spPr>
          <a:xfrm>
            <a:off x="22128480" y="7040880"/>
            <a:ext cx="9875520" cy="1234440"/>
          </a:xfrm>
          <a:prstGeom prst="roundRect">
            <a:avLst>
              <a:gd name="adj" fmla="val 18000"/>
            </a:avLst>
          </a:prstGeom>
          <a:solidFill>
            <a:srgbClr val="522398"/>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wrap="square"/>
          <a:lstStyle/>
          <a:p>
            <a:pPr algn="l"/>
            <a:r>
              <a:rPr sz="4600" b="1">
                <a:solidFill>
                  <a:srgbClr val="FFFFFF"/>
                </a:solidFill>
                <a:latin typeface="Calibri"/>
              </a:rPr>
              <a:t>5  Relevant Data Summaries</a:t>
            </a:r>
          </a:p>
        </p:txBody>
      </p:sp>
      <p:sp>
        <p:nvSpPr>
          <p:cNvPr id="57" name="Rounded Rectangle 56"/>
          <p:cNvSpPr/>
          <p:nvPr/>
        </p:nvSpPr>
        <p:spPr>
          <a:xfrm>
            <a:off x="22128480" y="8686800"/>
            <a:ext cx="4754880" cy="2788920"/>
          </a:xfrm>
          <a:prstGeom prst="roundRect">
            <a:avLst>
              <a:gd name="adj" fmla="val 8000"/>
            </a:avLst>
          </a:prstGeom>
          <a:solidFill>
            <a:srgbClr val="F3EEF8"/>
          </a:solidFill>
          <a:ln w="31750">
            <a:solidFill>
              <a:srgbClr val="D9CC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22311360" y="8823960"/>
            <a:ext cx="4389120" cy="1394460"/>
          </a:xfrm>
          <a:prstGeom prst="rect">
            <a:avLst/>
          </a:prstGeom>
          <a:noFill/>
        </p:spPr>
        <p:txBody>
          <a:bodyPr wrap="square" anchor="ctr" lIns="0" rIns="0" tIns="0" bIns="0">
            <a:spAutoFit/>
          </a:bodyPr>
          <a:lstStyle/>
          <a:p>
            <a:pPr algn="ctr">
              <a:lnSpc>
                <a:spcPct val="100000"/>
              </a:lnSpc>
              <a:spcAft>
                <a:spcPts val="0"/>
              </a:spcAft>
            </a:pPr>
            <a:r>
              <a:rPr sz="7200" b="1" i="0">
                <a:solidFill>
                  <a:srgbClr val="522398"/>
                </a:solidFill>
                <a:latin typeface="Calibri"/>
              </a:rPr>
              <a:t>90.2%</a:t>
            </a:r>
          </a:p>
        </p:txBody>
      </p:sp>
      <p:sp>
        <p:nvSpPr>
          <p:cNvPr id="59" name="TextBox 58"/>
          <p:cNvSpPr txBox="1"/>
          <p:nvPr/>
        </p:nvSpPr>
        <p:spPr>
          <a:xfrm>
            <a:off x="22357080" y="10220706"/>
            <a:ext cx="4297680" cy="1171346"/>
          </a:xfrm>
          <a:prstGeom prst="rect">
            <a:avLst/>
          </a:prstGeom>
          <a:noFill/>
        </p:spPr>
        <p:txBody>
          <a:bodyPr wrap="square" anchor="t" lIns="0" rIns="0" tIns="0" bIns="0">
            <a:spAutoFit/>
          </a:bodyPr>
          <a:lstStyle/>
          <a:p>
            <a:pPr algn="ctr">
              <a:lnSpc>
                <a:spcPct val="100000"/>
              </a:lnSpc>
              <a:spcAft>
                <a:spcPts val="0"/>
              </a:spcAft>
            </a:pPr>
            <a:r>
              <a:rPr sz="2500" b="0" i="0">
                <a:solidFill>
                  <a:srgbClr val="1F2933"/>
                </a:solidFill>
                <a:latin typeface="Calibri"/>
              </a:rPr>
              <a:t>of 540 unseen patients staged correctly</a:t>
            </a:r>
          </a:p>
        </p:txBody>
      </p:sp>
      <p:sp>
        <p:nvSpPr>
          <p:cNvPr id="60" name="Rounded Rectangle 59"/>
          <p:cNvSpPr/>
          <p:nvPr/>
        </p:nvSpPr>
        <p:spPr>
          <a:xfrm>
            <a:off x="27249120" y="8686800"/>
            <a:ext cx="4754880" cy="2788920"/>
          </a:xfrm>
          <a:prstGeom prst="roundRect">
            <a:avLst>
              <a:gd name="adj" fmla="val 8000"/>
            </a:avLst>
          </a:prstGeom>
          <a:solidFill>
            <a:srgbClr val="F3EEF8"/>
          </a:solidFill>
          <a:ln w="31750">
            <a:solidFill>
              <a:srgbClr val="D9CC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27432000" y="8823960"/>
            <a:ext cx="4389120" cy="1394460"/>
          </a:xfrm>
          <a:prstGeom prst="rect">
            <a:avLst/>
          </a:prstGeom>
          <a:noFill/>
        </p:spPr>
        <p:txBody>
          <a:bodyPr wrap="square" anchor="ctr" lIns="0" rIns="0" tIns="0" bIns="0">
            <a:spAutoFit/>
          </a:bodyPr>
          <a:lstStyle/>
          <a:p>
            <a:pPr algn="ctr">
              <a:lnSpc>
                <a:spcPct val="100000"/>
              </a:lnSpc>
              <a:spcAft>
                <a:spcPts val="0"/>
              </a:spcAft>
            </a:pPr>
            <a:r>
              <a:rPr sz="7200" b="1" i="0">
                <a:solidFill>
                  <a:srgbClr val="522398"/>
                </a:solidFill>
                <a:latin typeface="Calibri"/>
              </a:rPr>
              <a:t>97%</a:t>
            </a:r>
          </a:p>
        </p:txBody>
      </p:sp>
      <p:sp>
        <p:nvSpPr>
          <p:cNvPr id="62" name="TextBox 61"/>
          <p:cNvSpPr txBox="1"/>
          <p:nvPr/>
        </p:nvSpPr>
        <p:spPr>
          <a:xfrm>
            <a:off x="27477720" y="10220706"/>
            <a:ext cx="4297680" cy="1171346"/>
          </a:xfrm>
          <a:prstGeom prst="rect">
            <a:avLst/>
          </a:prstGeom>
          <a:noFill/>
        </p:spPr>
        <p:txBody>
          <a:bodyPr wrap="square" anchor="t" lIns="0" rIns="0" tIns="0" bIns="0">
            <a:spAutoFit/>
          </a:bodyPr>
          <a:lstStyle/>
          <a:p>
            <a:pPr algn="ctr">
              <a:lnSpc>
                <a:spcPct val="100000"/>
              </a:lnSpc>
              <a:spcAft>
                <a:spcPts val="0"/>
              </a:spcAft>
            </a:pPr>
            <a:r>
              <a:rPr sz="2500" b="0" i="0">
                <a:solidFill>
                  <a:srgbClr val="1F2933"/>
                </a:solidFill>
                <a:latin typeface="Calibri"/>
              </a:rPr>
              <a:t>of Stage 2 patients caught (131 of 135)</a:t>
            </a:r>
          </a:p>
        </p:txBody>
      </p:sp>
      <p:sp>
        <p:nvSpPr>
          <p:cNvPr id="63" name="Rounded Rectangle 62"/>
          <p:cNvSpPr/>
          <p:nvPr/>
        </p:nvSpPr>
        <p:spPr>
          <a:xfrm>
            <a:off x="22128480" y="11750040"/>
            <a:ext cx="4754880" cy="2788920"/>
          </a:xfrm>
          <a:prstGeom prst="roundRect">
            <a:avLst>
              <a:gd name="adj" fmla="val 8000"/>
            </a:avLst>
          </a:prstGeom>
          <a:solidFill>
            <a:srgbClr val="F3EEF8"/>
          </a:solidFill>
          <a:ln w="31750">
            <a:solidFill>
              <a:srgbClr val="D9CC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22311360" y="11887200"/>
            <a:ext cx="4389120" cy="1394460"/>
          </a:xfrm>
          <a:prstGeom prst="rect">
            <a:avLst/>
          </a:prstGeom>
          <a:noFill/>
        </p:spPr>
        <p:txBody>
          <a:bodyPr wrap="square" anchor="ctr" lIns="0" rIns="0" tIns="0" bIns="0">
            <a:spAutoFit/>
          </a:bodyPr>
          <a:lstStyle/>
          <a:p>
            <a:pPr algn="ctr">
              <a:lnSpc>
                <a:spcPct val="100000"/>
              </a:lnSpc>
              <a:spcAft>
                <a:spcPts val="0"/>
              </a:spcAft>
            </a:pPr>
            <a:r>
              <a:rPr sz="7200" b="1" i="0">
                <a:solidFill>
                  <a:srgbClr val="522398"/>
                </a:solidFill>
                <a:latin typeface="Calibri"/>
              </a:rPr>
              <a:t>0</a:t>
            </a:r>
          </a:p>
        </p:txBody>
      </p:sp>
      <p:sp>
        <p:nvSpPr>
          <p:cNvPr id="65" name="TextBox 64"/>
          <p:cNvSpPr txBox="1"/>
          <p:nvPr/>
        </p:nvSpPr>
        <p:spPr>
          <a:xfrm>
            <a:off x="22357080" y="13283946"/>
            <a:ext cx="4297680" cy="1171346"/>
          </a:xfrm>
          <a:prstGeom prst="rect">
            <a:avLst/>
          </a:prstGeom>
          <a:noFill/>
        </p:spPr>
        <p:txBody>
          <a:bodyPr wrap="square" anchor="t" lIns="0" rIns="0" tIns="0" bIns="0">
            <a:spAutoFit/>
          </a:bodyPr>
          <a:lstStyle/>
          <a:p>
            <a:pPr algn="ctr">
              <a:lnSpc>
                <a:spcPct val="100000"/>
              </a:lnSpc>
              <a:spcAft>
                <a:spcPts val="0"/>
              </a:spcAft>
            </a:pPr>
            <a:r>
              <a:rPr sz="2500" b="0" i="0">
                <a:solidFill>
                  <a:srgbClr val="1F2933"/>
                </a:solidFill>
                <a:latin typeface="Calibri"/>
              </a:rPr>
              <a:t>patients staged more than one step from the true stage</a:t>
            </a:r>
          </a:p>
        </p:txBody>
      </p:sp>
      <p:sp>
        <p:nvSpPr>
          <p:cNvPr id="66" name="Rounded Rectangle 65"/>
          <p:cNvSpPr/>
          <p:nvPr/>
        </p:nvSpPr>
        <p:spPr>
          <a:xfrm>
            <a:off x="27249120" y="11750040"/>
            <a:ext cx="4754880" cy="2788920"/>
          </a:xfrm>
          <a:prstGeom prst="roundRect">
            <a:avLst>
              <a:gd name="adj" fmla="val 8000"/>
            </a:avLst>
          </a:prstGeom>
          <a:solidFill>
            <a:srgbClr val="F3EEF8"/>
          </a:solidFill>
          <a:ln w="31750">
            <a:solidFill>
              <a:srgbClr val="D9CC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27432000" y="11887200"/>
            <a:ext cx="4389120" cy="1394460"/>
          </a:xfrm>
          <a:prstGeom prst="rect">
            <a:avLst/>
          </a:prstGeom>
          <a:noFill/>
        </p:spPr>
        <p:txBody>
          <a:bodyPr wrap="square" anchor="ctr" lIns="0" rIns="0" tIns="0" bIns="0">
            <a:spAutoFit/>
          </a:bodyPr>
          <a:lstStyle/>
          <a:p>
            <a:pPr algn="ctr">
              <a:lnSpc>
                <a:spcPct val="100000"/>
              </a:lnSpc>
              <a:spcAft>
                <a:spcPts val="0"/>
              </a:spcAft>
            </a:pPr>
            <a:r>
              <a:rPr sz="7200" b="1" i="0">
                <a:solidFill>
                  <a:srgbClr val="522398"/>
                </a:solidFill>
                <a:latin typeface="Calibri"/>
              </a:rPr>
              <a:t>22 ms</a:t>
            </a:r>
          </a:p>
        </p:txBody>
      </p:sp>
      <p:sp>
        <p:nvSpPr>
          <p:cNvPr id="68" name="TextBox 67"/>
          <p:cNvSpPr txBox="1"/>
          <p:nvPr/>
        </p:nvSpPr>
        <p:spPr>
          <a:xfrm>
            <a:off x="27477720" y="13283946"/>
            <a:ext cx="4297680" cy="1171346"/>
          </a:xfrm>
          <a:prstGeom prst="rect">
            <a:avLst/>
          </a:prstGeom>
          <a:noFill/>
        </p:spPr>
        <p:txBody>
          <a:bodyPr wrap="square" anchor="t" lIns="0" rIns="0" tIns="0" bIns="0">
            <a:spAutoFit/>
          </a:bodyPr>
          <a:lstStyle/>
          <a:p>
            <a:pPr algn="ctr">
              <a:lnSpc>
                <a:spcPct val="100000"/>
              </a:lnSpc>
              <a:spcAft>
                <a:spcPts val="0"/>
              </a:spcAft>
            </a:pPr>
            <a:r>
              <a:rPr sz="2500" b="0" i="0">
                <a:solidFill>
                  <a:srgbClr val="1F2933"/>
                </a:solidFill>
                <a:latin typeface="Calibri"/>
              </a:rPr>
              <a:t>to predict and explain one patient</a:t>
            </a:r>
          </a:p>
        </p:txBody>
      </p:sp>
      <p:pic>
        <p:nvPicPr>
          <p:cNvPr id="69" name="Picture 68" descr="topic7_benchmarks.png"/>
          <p:cNvPicPr>
            <a:picLocks noChangeAspect="1"/>
          </p:cNvPicPr>
          <p:nvPr/>
        </p:nvPicPr>
        <p:blipFill>
          <a:blip r:embed="rId5"/>
          <a:stretch>
            <a:fillRect/>
          </a:stretch>
        </p:blipFill>
        <p:spPr>
          <a:xfrm>
            <a:off x="22128480" y="14996159"/>
            <a:ext cx="9875520" cy="4855188"/>
          </a:xfrm>
          <a:prstGeom prst="rect">
            <a:avLst/>
          </a:prstGeom>
          <a:ln w="31750">
            <a:solidFill>
              <a:srgbClr val="D9CCEB"/>
            </a:solidFill>
          </a:ln>
        </p:spPr>
      </p:pic>
      <p:sp>
        <p:nvSpPr>
          <p:cNvPr id="70" name="TextBox 69"/>
          <p:cNvSpPr txBox="1"/>
          <p:nvPr/>
        </p:nvSpPr>
        <p:spPr>
          <a:xfrm>
            <a:off x="22128480" y="20034228"/>
            <a:ext cx="9875520" cy="2042160"/>
          </a:xfrm>
          <a:prstGeom prst="rect">
            <a:avLst/>
          </a:prstGeom>
          <a:noFill/>
        </p:spPr>
        <p:txBody>
          <a:bodyPr wrap="square" anchor="t" lIns="0" rIns="0" tIns="0" bIns="0">
            <a:spAutoFit/>
          </a:bodyPr>
          <a:lstStyle/>
          <a:p>
            <a:pPr algn="l">
              <a:lnSpc>
                <a:spcPct val="100000"/>
              </a:lnSpc>
              <a:spcAft>
                <a:spcPts val="0"/>
              </a:spcAft>
            </a:pPr>
            <a:r>
              <a:rPr sz="2500" b="0" i="1">
                <a:solidFill>
                  <a:srgbClr val="52606D"/>
                </a:solidFill>
                <a:latin typeface="Calibri"/>
              </a:rPr>
              <a:t>Accuracy on patients the model never saw. Rules on one office reading or the daytime average are right 54% and 61% of the time. The gain over simpler machine learning is small and within the margin of error; the model's edge is better-calibrated confidence and explanations.</a:t>
            </a:r>
          </a:p>
        </p:txBody>
      </p:sp>
      <p:pic>
        <p:nvPicPr>
          <p:cNvPr id="71" name="Picture 70" descr="ui_poster_crop.png"/>
          <p:cNvPicPr>
            <a:picLocks noChangeAspect="1"/>
          </p:cNvPicPr>
          <p:nvPr/>
        </p:nvPicPr>
        <p:blipFill>
          <a:blip r:embed="rId6"/>
          <a:stretch>
            <a:fillRect/>
          </a:stretch>
        </p:blipFill>
        <p:spPr>
          <a:xfrm>
            <a:off x="22128480" y="22304988"/>
            <a:ext cx="9875520" cy="4752865"/>
          </a:xfrm>
          <a:prstGeom prst="rect">
            <a:avLst/>
          </a:prstGeom>
          <a:ln w="31750">
            <a:solidFill>
              <a:srgbClr val="D9CCEB"/>
            </a:solidFill>
          </a:ln>
        </p:spPr>
      </p:pic>
      <p:sp>
        <p:nvSpPr>
          <p:cNvPr id="72" name="TextBox 71"/>
          <p:cNvSpPr txBox="1"/>
          <p:nvPr/>
        </p:nvSpPr>
        <p:spPr>
          <a:xfrm>
            <a:off x="22128480" y="27240734"/>
            <a:ext cx="9875520" cy="2042160"/>
          </a:xfrm>
          <a:prstGeom prst="rect">
            <a:avLst/>
          </a:prstGeom>
          <a:noFill/>
        </p:spPr>
        <p:txBody>
          <a:bodyPr wrap="square" anchor="t" lIns="0" rIns="0" tIns="0" bIns="0">
            <a:spAutoFit/>
          </a:bodyPr>
          <a:lstStyle/>
          <a:p>
            <a:pPr algn="l">
              <a:lnSpc>
                <a:spcPct val="100000"/>
              </a:lnSpc>
              <a:spcAft>
                <a:spcPts val="0"/>
              </a:spcAft>
            </a:pPr>
            <a:r>
              <a:rPr sz="2500" b="0" i="1">
                <a:solidFill>
                  <a:srgbClr val="52606D"/>
                </a:solidFill>
                <a:latin typeface="Calibri"/>
              </a:rPr>
              <a:t>The dashboard's ABPM Staging page, captured from the running app: the predicted stage with its confidence, stage probabilities, and the four measurements that drove the result. Night-time pressure carries the most weight, a pattern built into the simulated data.</a:t>
            </a:r>
          </a:p>
        </p:txBody>
      </p:sp>
      <p:sp>
        <p:nvSpPr>
          <p:cNvPr id="73" name="TextBox 72"/>
          <p:cNvSpPr txBox="1"/>
          <p:nvPr/>
        </p:nvSpPr>
        <p:spPr>
          <a:xfrm>
            <a:off x="22128480" y="29511494"/>
            <a:ext cx="9875520" cy="1722119"/>
          </a:xfrm>
          <a:prstGeom prst="rect">
            <a:avLst/>
          </a:prstGeom>
          <a:noFill/>
        </p:spPr>
        <p:txBody>
          <a:bodyPr wrap="square" anchor="t" lIns="0" rIns="0" tIns="0" bIns="0">
            <a:spAutoFit/>
          </a:bodyPr>
          <a:lstStyle/>
          <a:p>
            <a:pPr algn="l">
              <a:lnSpc>
                <a:spcPct val="100000"/>
              </a:lnSpc>
              <a:spcAft>
                <a:spcPts val="600"/>
              </a:spcAft>
            </a:pPr>
            <a:r>
              <a:rPr sz="2700" b="1" i="0">
                <a:solidFill>
                  <a:srgbClr val="1F2933"/>
                </a:solidFill>
                <a:latin typeface="Calibri"/>
              </a:rPr>
              <a:t>Where it errs. </a:t>
            </a:r>
            <a:r>
              <a:rPr sz="2700" b="0" i="0">
                <a:solidFill>
                  <a:srgbClr val="1F2933"/>
                </a:solidFill>
                <a:latin typeface="Calibri"/>
              </a:rPr>
              <a:t>Most mistakes fall within 5 mmHg of a stage boundary, where the stage is a judgment call. Accuracy is lowest under age 45 (86%, 93 patients), so it needs a larger test.</a:t>
            </a:r>
          </a:p>
        </p:txBody>
      </p:sp>
      <p:sp>
        <p:nvSpPr>
          <p:cNvPr id="74" name="Rounded Rectangle 73"/>
          <p:cNvSpPr/>
          <p:nvPr/>
        </p:nvSpPr>
        <p:spPr>
          <a:xfrm>
            <a:off x="22128480" y="31599374"/>
            <a:ext cx="9875520" cy="1234440"/>
          </a:xfrm>
          <a:prstGeom prst="roundRect">
            <a:avLst>
              <a:gd name="adj" fmla="val 18000"/>
            </a:avLst>
          </a:prstGeom>
          <a:solidFill>
            <a:srgbClr val="522398"/>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wrap="square"/>
          <a:lstStyle/>
          <a:p>
            <a:pPr algn="l"/>
            <a:r>
              <a:rPr sz="4600" b="1">
                <a:solidFill>
                  <a:srgbClr val="FFFFFF"/>
                </a:solidFill>
                <a:latin typeface="Calibri"/>
              </a:rPr>
              <a:t>6  Limits and Next Steps</a:t>
            </a:r>
          </a:p>
        </p:txBody>
      </p:sp>
      <p:sp>
        <p:nvSpPr>
          <p:cNvPr id="75" name="TextBox 74"/>
          <p:cNvSpPr txBox="1"/>
          <p:nvPr/>
        </p:nvSpPr>
        <p:spPr>
          <a:xfrm>
            <a:off x="22128480" y="33245294"/>
            <a:ext cx="9875520" cy="3596640"/>
          </a:xfrm>
          <a:prstGeom prst="rect">
            <a:avLst/>
          </a:prstGeom>
          <a:noFill/>
        </p:spPr>
        <p:txBody>
          <a:bodyPr wrap="square" anchor="t" lIns="0" rIns="0" tIns="0" bIns="0">
            <a:spAutoFit/>
          </a:bodyPr>
          <a:lstStyle/>
          <a:p>
            <a:pPr algn="l" marL="502920" indent="-502920">
              <a:lnSpc>
                <a:spcPct val="100000"/>
              </a:lnSpc>
              <a:spcAft>
                <a:spcPts val="800"/>
              </a:spcAft>
              <a:buClr>
                <a:srgbClr val="522398"/>
              </a:buClr>
              <a:buChar char="•"/>
            </a:pPr>
            <a:r>
              <a:rPr sz="2700" b="1" i="0">
                <a:solidFill>
                  <a:srgbClr val="1F2933"/>
                </a:solidFill>
                <a:latin typeface="Calibri"/>
              </a:rPr>
              <a:t>Simulated data only. </a:t>
            </a:r>
            <a:r>
              <a:rPr sz="2700" b="0" i="0">
                <a:solidFill>
                  <a:srgbClr val="1F2933"/>
                </a:solidFill>
                <a:latin typeface="Calibri"/>
              </a:rPr>
              <a:t>Not clinically validated and not for patient care.</a:t>
            </a:r>
          </a:p>
          <a:p>
            <a:pPr algn="l" marL="502920" indent="-502920">
              <a:lnSpc>
                <a:spcPct val="100000"/>
              </a:lnSpc>
              <a:spcAft>
                <a:spcPts val="800"/>
              </a:spcAft>
              <a:buClr>
                <a:srgbClr val="522398"/>
              </a:buClr>
              <a:buChar char="•"/>
            </a:pPr>
            <a:r>
              <a:rPr sz="2700" b="1" i="0">
                <a:solidFill>
                  <a:srgbClr val="1F2933"/>
                </a:solidFill>
                <a:latin typeface="Calibri"/>
              </a:rPr>
              <a:t>Next: </a:t>
            </a:r>
            <a:r>
              <a:rPr sz="2700" b="0" i="0">
                <a:solidFill>
                  <a:srgbClr val="1F2933"/>
                </a:solidFill>
                <a:latin typeface="Calibri"/>
              </a:rPr>
              <a:t>test on real multi-site records, predict real outcomes, and show prediction sets with coverage guarantees near stage boundaries (Angelopoulos &amp; Bates, 2023).</a:t>
            </a:r>
          </a:p>
          <a:p>
            <a:pPr algn="l" marL="502920" indent="-502920">
              <a:lnSpc>
                <a:spcPct val="100000"/>
              </a:lnSpc>
              <a:spcAft>
                <a:spcPts val="800"/>
              </a:spcAft>
              <a:buClr>
                <a:srgbClr val="522398"/>
              </a:buClr>
              <a:buChar char="•"/>
            </a:pPr>
            <a:r>
              <a:rPr sz="2700" b="1" i="0">
                <a:solidFill>
                  <a:srgbClr val="1F2933"/>
                </a:solidFill>
                <a:latin typeface="Calibri"/>
              </a:rPr>
              <a:t>Planned, not built: </a:t>
            </a:r>
            <a:r>
              <a:rPr sz="2700" b="0" i="0">
                <a:solidFill>
                  <a:srgbClr val="1F2933"/>
                </a:solidFill>
                <a:latin typeface="Calibri"/>
              </a:rPr>
              <a:t>clinician override logging and retraining.</a:t>
            </a:r>
          </a:p>
        </p:txBody>
      </p:sp>
      <p:sp>
        <p:nvSpPr>
          <p:cNvPr id="76" name="Rectangle 75"/>
          <p:cNvSpPr/>
          <p:nvPr/>
        </p:nvSpPr>
        <p:spPr>
          <a:xfrm>
            <a:off x="914400" y="37856160"/>
            <a:ext cx="31089600" cy="54864"/>
          </a:xfrm>
          <a:prstGeom prst="rect">
            <a:avLst/>
          </a:prstGeom>
          <a:solidFill>
            <a:srgbClr val="D9CC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914400" y="38039040"/>
            <a:ext cx="5486400" cy="731520"/>
          </a:xfrm>
          <a:prstGeom prst="rect">
            <a:avLst/>
          </a:prstGeom>
          <a:noFill/>
        </p:spPr>
        <p:txBody>
          <a:bodyPr wrap="square" anchor="t" lIns="0" rIns="0" tIns="0" bIns="0">
            <a:spAutoFit/>
          </a:bodyPr>
          <a:lstStyle/>
          <a:p>
            <a:pPr algn="l">
              <a:lnSpc>
                <a:spcPct val="100000"/>
              </a:lnSpc>
              <a:spcAft>
                <a:spcPts val="0"/>
              </a:spcAft>
            </a:pPr>
            <a:r>
              <a:rPr sz="3400" b="1" i="0">
                <a:solidFill>
                  <a:srgbClr val="522398"/>
                </a:solidFill>
                <a:latin typeface="Calibri"/>
              </a:rPr>
              <a:t>References</a:t>
            </a:r>
          </a:p>
        </p:txBody>
      </p:sp>
      <p:sp>
        <p:nvSpPr>
          <p:cNvPr id="78" name="TextBox 77"/>
          <p:cNvSpPr txBox="1"/>
          <p:nvPr/>
        </p:nvSpPr>
        <p:spPr>
          <a:xfrm>
            <a:off x="914400" y="38816280"/>
            <a:ext cx="9875520" cy="2743200"/>
          </a:xfrm>
          <a:prstGeom prst="rect">
            <a:avLst/>
          </a:prstGeom>
          <a:noFill/>
        </p:spPr>
        <p:txBody>
          <a:bodyPr wrap="square" anchor="t" lIns="0" rIns="0" tIns="0" bIns="0">
            <a:spAutoFit/>
          </a:bodyPr>
          <a:lstStyle/>
          <a:p>
            <a:pPr algn="l" marL="365760" indent="-365760">
              <a:lnSpc>
                <a:spcPct val="100000"/>
              </a:lnSpc>
              <a:spcAft>
                <a:spcPts val="600"/>
              </a:spcAft>
            </a:pPr>
            <a:r>
              <a:rPr sz="1900" b="0" i="0">
                <a:solidFill>
                  <a:srgbClr val="1F2933"/>
                </a:solidFill>
                <a:latin typeface="Calibri"/>
              </a:rPr>
              <a:t>Angelopoulos, A. N., &amp; Bates, S. (2023). Conformal prediction: A gentle introduction. </a:t>
            </a:r>
            <a:r>
              <a:rPr sz="1900" b="0" i="1">
                <a:solidFill>
                  <a:srgbClr val="1F2933"/>
                </a:solidFill>
                <a:latin typeface="Calibri"/>
              </a:rPr>
              <a:t>Foundations and Trends in Machine Learning, 16</a:t>
            </a:r>
            <a:r>
              <a:rPr sz="1900" b="0" i="0">
                <a:solidFill>
                  <a:srgbClr val="1F2933"/>
                </a:solidFill>
                <a:latin typeface="Calibri"/>
              </a:rPr>
              <a:t>(4), 494–591. https://doi.org/10.1561/2200000101</a:t>
            </a:r>
          </a:p>
          <a:p>
            <a:pPr algn="l" marL="365760" indent="-365760">
              <a:lnSpc>
                <a:spcPct val="100000"/>
              </a:lnSpc>
              <a:spcAft>
                <a:spcPts val="600"/>
              </a:spcAft>
            </a:pPr>
            <a:r>
              <a:rPr sz="1900" b="0" i="0">
                <a:solidFill>
                  <a:srgbClr val="1F2933"/>
                </a:solidFill>
                <a:latin typeface="Calibri"/>
              </a:rPr>
              <a:t>Collins, G. S., Moons, K. G. M., Dhiman, P., Riley, R. D., Beam, A. L., Van Calster, B., ... Logullo, P. (2024). TRIPOD+AI statement: Updated guidance for reporting clinical prediction models that use regression or machine learning methods. </a:t>
            </a:r>
            <a:r>
              <a:rPr sz="1900" b="0" i="1">
                <a:solidFill>
                  <a:srgbClr val="1F2933"/>
                </a:solidFill>
                <a:latin typeface="Calibri"/>
              </a:rPr>
              <a:t>BMJ, 385</a:t>
            </a:r>
            <a:r>
              <a:rPr sz="1900" b="0" i="0">
                <a:solidFill>
                  <a:srgbClr val="1F2933"/>
                </a:solidFill>
                <a:latin typeface="Calibri"/>
              </a:rPr>
              <a:t>, Article e078378. https://doi.org/10.1136/bmj-2023-078378</a:t>
            </a:r>
          </a:p>
        </p:txBody>
      </p:sp>
      <p:sp>
        <p:nvSpPr>
          <p:cNvPr id="79" name="TextBox 78"/>
          <p:cNvSpPr txBox="1"/>
          <p:nvPr/>
        </p:nvSpPr>
        <p:spPr>
          <a:xfrm>
            <a:off x="11521440" y="38816280"/>
            <a:ext cx="9875520" cy="2743200"/>
          </a:xfrm>
          <a:prstGeom prst="rect">
            <a:avLst/>
          </a:prstGeom>
          <a:noFill/>
        </p:spPr>
        <p:txBody>
          <a:bodyPr wrap="square" anchor="t" lIns="0" rIns="0" tIns="0" bIns="0">
            <a:spAutoFit/>
          </a:bodyPr>
          <a:lstStyle/>
          <a:p>
            <a:pPr algn="l" marL="365760" indent="-365760">
              <a:lnSpc>
                <a:spcPct val="100000"/>
              </a:lnSpc>
              <a:spcAft>
                <a:spcPts val="600"/>
              </a:spcAft>
            </a:pPr>
            <a:r>
              <a:rPr sz="1900" b="0" i="0">
                <a:solidFill>
                  <a:srgbClr val="1F2933"/>
                </a:solidFill>
                <a:latin typeface="Calibri"/>
              </a:rPr>
              <a:t>Lundberg, S. M., Erion, G., Chen, H., DeGrave, A., Prutkin, J. M., Nair, B., Katz, R., Himmelfarb, J., Bansal, N., &amp; Lee, S.-I. (2020). From local explanations to global understanding with explainable AI for trees. </a:t>
            </a:r>
            <a:r>
              <a:rPr sz="1900" b="0" i="1">
                <a:solidFill>
                  <a:srgbClr val="1F2933"/>
                </a:solidFill>
                <a:latin typeface="Calibri"/>
              </a:rPr>
              <a:t>Nature Machine Intelligence, 2</a:t>
            </a:r>
            <a:r>
              <a:rPr sz="1900" b="0" i="0">
                <a:solidFill>
                  <a:srgbClr val="1F2933"/>
                </a:solidFill>
                <a:latin typeface="Calibri"/>
              </a:rPr>
              <a:t>(1), 56–67. https://doi.org/10.1038/s42256-019-0138-9</a:t>
            </a:r>
          </a:p>
          <a:p>
            <a:pPr algn="l" marL="365760" indent="-365760">
              <a:lnSpc>
                <a:spcPct val="100000"/>
              </a:lnSpc>
              <a:spcAft>
                <a:spcPts val="600"/>
              </a:spcAft>
            </a:pPr>
            <a:r>
              <a:rPr sz="1900" b="0" i="0">
                <a:solidFill>
                  <a:srgbClr val="1F2933"/>
                </a:solidFill>
                <a:latin typeface="Calibri"/>
              </a:rPr>
              <a:t>Mitchell, M., Wu, S., Zaldivar, A., Barnes, P., Vasserman, L., Hutchinson, B., Spitzer, E., Raji, I. D., &amp; Gebru, T. (2019). Model cards for model reporting. In </a:t>
            </a:r>
            <a:r>
              <a:rPr sz="1900" b="0" i="1">
                <a:solidFill>
                  <a:srgbClr val="1F2933"/>
                </a:solidFill>
                <a:latin typeface="Calibri"/>
              </a:rPr>
              <a:t>Proceedings of the Conference on Fairness, Accountability, and Transparency</a:t>
            </a:r>
            <a:r>
              <a:rPr sz="1900" b="0" i="0">
                <a:solidFill>
                  <a:srgbClr val="1F2933"/>
                </a:solidFill>
                <a:latin typeface="Calibri"/>
              </a:rPr>
              <a:t> (pp. 220–229). ACM. https://doi.org/10.1145/3287560.3287596</a:t>
            </a:r>
          </a:p>
        </p:txBody>
      </p:sp>
      <p:sp>
        <p:nvSpPr>
          <p:cNvPr id="80" name="TextBox 79"/>
          <p:cNvSpPr txBox="1"/>
          <p:nvPr/>
        </p:nvSpPr>
        <p:spPr>
          <a:xfrm>
            <a:off x="22128480" y="38816280"/>
            <a:ext cx="9875520" cy="2743200"/>
          </a:xfrm>
          <a:prstGeom prst="rect">
            <a:avLst/>
          </a:prstGeom>
          <a:noFill/>
        </p:spPr>
        <p:txBody>
          <a:bodyPr wrap="square" anchor="t" lIns="0" rIns="0" tIns="0" bIns="0">
            <a:spAutoFit/>
          </a:bodyPr>
          <a:lstStyle/>
          <a:p>
            <a:pPr algn="l" marL="365760" indent="-365760">
              <a:lnSpc>
                <a:spcPct val="100000"/>
              </a:lnSpc>
              <a:spcAft>
                <a:spcPts val="600"/>
              </a:spcAft>
            </a:pPr>
            <a:r>
              <a:rPr sz="1900" b="0" i="0">
                <a:solidFill>
                  <a:srgbClr val="1F2933"/>
                </a:solidFill>
                <a:latin typeface="Calibri"/>
              </a:rPr>
              <a:t>U.S. Department of Health and Human Services. (2013). Modifications to the HIPAA Privacy, Security, Enforcement, and Breach Notification Rules under the Health Information Technology for Economic and Clinical Health Act and the Genetic Information Nondiscrimination Act; other modifications to the HIPAA rules. </a:t>
            </a:r>
            <a:r>
              <a:rPr sz="1900" b="0" i="1">
                <a:solidFill>
                  <a:srgbClr val="1F2933"/>
                </a:solidFill>
                <a:latin typeface="Calibri"/>
              </a:rPr>
              <a:t>Federal Register, 78</a:t>
            </a:r>
            <a:r>
              <a:rPr sz="1900" b="0" i="0">
                <a:solidFill>
                  <a:srgbClr val="1F2933"/>
                </a:solidFill>
                <a:latin typeface="Calibri"/>
              </a:rPr>
              <a:t>(17), 5566–5702.</a:t>
            </a:r>
          </a:p>
          <a:p>
            <a:pPr algn="l" marL="365760" indent="-365760">
              <a:lnSpc>
                <a:spcPct val="100000"/>
              </a:lnSpc>
              <a:spcAft>
                <a:spcPts val="600"/>
              </a:spcAft>
            </a:pPr>
            <a:r>
              <a:rPr sz="1900" b="0" i="0">
                <a:solidFill>
                  <a:srgbClr val="1F2933"/>
                </a:solidFill>
                <a:latin typeface="Calibri"/>
              </a:rPr>
              <a:t>Whelton, P. K., Carey, R. M., Aronow, W. S., Casey, D. E., Collins, K. J., Himmelfarb, C. D., ... Wright, J. T. (2018). 2017 ACC/AHA/AAPA/ABC/ACPM/AGS/APhA/ASH/ASPC/NMA/PCNA guideline for the prevention, detection, evaluation, and management of high blood pressure in adults. </a:t>
            </a:r>
            <a:r>
              <a:rPr sz="1900" b="0" i="1">
                <a:solidFill>
                  <a:srgbClr val="1F2933"/>
                </a:solidFill>
                <a:latin typeface="Calibri"/>
              </a:rPr>
              <a:t>Journal of the American College of Cardiology, 71</a:t>
            </a:r>
            <a:r>
              <a:rPr sz="1900" b="0" i="0">
                <a:solidFill>
                  <a:srgbClr val="1F2933"/>
                </a:solidFill>
                <a:latin typeface="Calibri"/>
              </a:rPr>
              <a:t>(19), e127–e248. https://doi.org/10.1016/j.jacc.2017.11.006</a:t>
            </a:r>
          </a:p>
        </p:txBody>
      </p:sp>
      <p:sp>
        <p:nvSpPr>
          <p:cNvPr id="81" name="Rectangle 80"/>
          <p:cNvSpPr/>
          <p:nvPr/>
        </p:nvSpPr>
        <p:spPr>
          <a:xfrm>
            <a:off x="0" y="41605200"/>
            <a:ext cx="32918400" cy="2286000"/>
          </a:xfrm>
          <a:prstGeom prst="rect">
            <a:avLst/>
          </a:prstGeom>
          <a:solidFill>
            <a:srgbClr val="2803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914400" y="41925240"/>
            <a:ext cx="31089600" cy="640080"/>
          </a:xfrm>
          <a:prstGeom prst="rect">
            <a:avLst/>
          </a:prstGeom>
          <a:noFill/>
        </p:spPr>
        <p:txBody>
          <a:bodyPr wrap="square" anchor="t" lIns="0" rIns="0" tIns="0" bIns="0">
            <a:spAutoFit/>
          </a:bodyPr>
          <a:lstStyle/>
          <a:p>
            <a:pPr algn="ctr">
              <a:lnSpc>
                <a:spcPct val="100000"/>
              </a:lnSpc>
              <a:spcAft>
                <a:spcPts val="0"/>
              </a:spcAft>
            </a:pPr>
            <a:r>
              <a:rPr sz="2800" b="1" i="0">
                <a:solidFill>
                  <a:srgbClr val="FFFFFF"/>
                </a:solidFill>
                <a:latin typeface="Calibri"/>
              </a:rPr>
              <a:t>Code, notebook and tests: </a:t>
            </a:r>
            <a:r>
              <a:rPr sz="2800" b="0" i="0">
                <a:solidFill>
                  <a:srgbClr val="FFFFFF"/>
                </a:solidFill>
                <a:latin typeface="Calibri"/>
              </a:rPr>
              <a:t>github.com/rajachakraborti/telehealth-hypertension-analytics   |   release tag topic7-submission (commit 73adefd)   |   rajachakraborti@gmail.com</a:t>
            </a:r>
          </a:p>
        </p:txBody>
      </p:sp>
      <p:sp>
        <p:nvSpPr>
          <p:cNvPr id="83" name="TextBox 82"/>
          <p:cNvSpPr txBox="1"/>
          <p:nvPr/>
        </p:nvSpPr>
        <p:spPr>
          <a:xfrm>
            <a:off x="914400" y="42702480"/>
            <a:ext cx="31089600" cy="640080"/>
          </a:xfrm>
          <a:prstGeom prst="rect">
            <a:avLst/>
          </a:prstGeom>
          <a:noFill/>
        </p:spPr>
        <p:txBody>
          <a:bodyPr wrap="square" anchor="t" lIns="0" rIns="0" tIns="0" bIns="0">
            <a:spAutoFit/>
          </a:bodyPr>
          <a:lstStyle/>
          <a:p>
            <a:pPr algn="ctr">
              <a:lnSpc>
                <a:spcPct val="100000"/>
              </a:lnSpc>
              <a:spcAft>
                <a:spcPts val="0"/>
              </a:spcAft>
            </a:pPr>
            <a:r>
              <a:rPr sz="2400" b="0" i="0">
                <a:solidFill>
                  <a:srgbClr val="E6D9F5"/>
                </a:solidFill>
                <a:latin typeface="Calibri"/>
              </a:rPr>
              <a:t>Grand Canyon University, College of Engineering and Technology  |  Technology Capstone Showcase  |  Results use simulated data and are not clinically validated.</a:t>
            </a:r>
          </a:p>
        </p:txBody>
      </p:sp>
    </p:spTree>
    <p:extLst>
      <p:ext uri="{BB962C8B-B14F-4D97-AF65-F5344CB8AC3E}">
        <p14:creationId xmlns:p14="http://schemas.microsoft.com/office/powerpoint/2010/main" val="3523442882"/>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11D7BF13958C64483E7E107A08507EA" ma:contentTypeVersion="3706" ma:contentTypeDescription="Create a new document." ma:contentTypeScope="" ma:versionID="27b9d429859bcb4cc95ca5b147d3168a">
  <xsd:schema xmlns:xsd="http://www.w3.org/2001/XMLSchema" xmlns:xs="http://www.w3.org/2001/XMLSchema" xmlns:p="http://schemas.microsoft.com/office/2006/metadata/properties" xmlns:ns1="http://schemas.microsoft.com/sharepoint/v3" xmlns:ns2="b457ba54-12e9-41a3-ab87-ffd5bc645430" xmlns:ns3="37d47695-dda2-48a2-87bc-2a1f7ac7fedc" targetNamespace="http://schemas.microsoft.com/office/2006/metadata/properties" ma:root="true" ma:fieldsID="1c82921937d1af28a735bf3437c860b8" ns1:_="" ns2:_="" ns3:_="">
    <xsd:import namespace="http://schemas.microsoft.com/sharepoint/v3"/>
    <xsd:import namespace="b457ba54-12e9-41a3-ab87-ffd5bc645430"/>
    <xsd:import namespace="37d47695-dda2-48a2-87bc-2a1f7ac7fedc"/>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GenerationTime" minOccurs="0"/>
                <xsd:element ref="ns2:MediaServiceEventHashCode" minOccurs="0"/>
                <xsd:element ref="ns1:_ip_UnifiedCompliancePolicyProperties" minOccurs="0"/>
                <xsd:element ref="ns1:_ip_UnifiedCompliancePolicyUIAction" minOccurs="0"/>
                <xsd:element ref="ns2:MediaServiceOCR" minOccurs="0"/>
                <xsd:element ref="ns2:MediaServiceAutoKeyPoints" minOccurs="0"/>
                <xsd:element ref="ns2:MediaServiceKeyPoints" minOccurs="0"/>
                <xsd:element ref="ns2:MediaServiceDateTaken"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3" nillable="true" ma:displayName="Unified Compliance Policy Properties" ma:hidden="true" ma:internalName="_ip_UnifiedCompliancePolicyProperties">
      <xsd:simpleType>
        <xsd:restriction base="dms:Note"/>
      </xsd:simpleType>
    </xsd:element>
    <xsd:element name="_ip_UnifiedCompliancePolicyUIAction" ma:index="14"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457ba54-12e9-41a3-ab87-ffd5bc64543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MediaLengthInSeconds" ma:index="21" nillable="true" ma:displayName="MediaLengthInSeconds" ma:hidden="true" ma:internalName="MediaLengthInSeconds" ma:readOnly="true">
      <xsd:simpleType>
        <xsd:restriction base="dms:Unknown"/>
      </xsd:simpleType>
    </xsd:element>
    <xsd:element name="lcf76f155ced4ddcb4097134ff3c332f" ma:index="23" nillable="true" ma:taxonomy="true" ma:internalName="lcf76f155ced4ddcb4097134ff3c332f" ma:taxonomyFieldName="MediaServiceImageTags" ma:displayName="Image Tags" ma:readOnly="false" ma:fieldId="{5cf76f15-5ced-4ddc-b409-7134ff3c332f}" ma:taxonomyMulti="true" ma:sspId="6f79346d-4f46-4bf1-b4df-486c6d391f37"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5"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7d47695-dda2-48a2-87bc-2a1f7ac7fedc" elementFormDefault="qualified">
    <xsd:import namespace="http://schemas.microsoft.com/office/2006/documentManagement/types"/>
    <xsd:import namespace="http://schemas.microsoft.com/office/infopath/2007/PartnerControls"/>
    <xsd:element name="SharedWithUsers" ma:index="1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Shared With Details" ma:internalName="SharedWithDetails" ma:readOnly="true">
      <xsd:simpleType>
        <xsd:restriction base="dms:Note">
          <xsd:maxLength value="255"/>
        </xsd:restriction>
      </xsd:simpleType>
    </xsd:element>
    <xsd:element name="TaxCatchAll" ma:index="24" nillable="true" ma:displayName="Taxonomy Catch All Column" ma:hidden="true" ma:list="{ebea8f4f-161d-469c-9cf2-f7071433846c}" ma:internalName="TaxCatchAll" ma:showField="CatchAllData" ma:web="37d47695-dda2-48a2-87bc-2a1f7ac7fed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TaxCatchAll xmlns="37d47695-dda2-48a2-87bc-2a1f7ac7fedc" xsi:nil="true"/>
    <lcf76f155ced4ddcb4097134ff3c332f xmlns="b457ba54-12e9-41a3-ab87-ffd5bc645430">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E08317A-A82E-4DE0-9F2D-198ADC500B9D}"/>
</file>

<file path=customXml/itemProps2.xml><?xml version="1.0" encoding="utf-8"?>
<ds:datastoreItem xmlns:ds="http://schemas.openxmlformats.org/officeDocument/2006/customXml" ds:itemID="{B68CC34E-46EA-4D24-8732-7729D15FAD84}">
  <ds:schemaRefs>
    <ds:schemaRef ds:uri="http://purl.org/dc/terms/"/>
    <ds:schemaRef ds:uri="http://schemas.openxmlformats.org/package/2006/metadata/core-properties"/>
    <ds:schemaRef ds:uri="http://purl.org/dc/dcmitype/"/>
    <ds:schemaRef ds:uri="http://schemas.microsoft.com/office/infopath/2007/PartnerControls"/>
    <ds:schemaRef ds:uri="b3b59848-949a-4ed4-8036-feb011ce2b52"/>
    <ds:schemaRef ds:uri="http://purl.org/dc/elements/1.1/"/>
    <ds:schemaRef ds:uri="http://schemas.microsoft.com/office/2006/metadata/properties"/>
    <ds:schemaRef ds:uri="http://schemas.microsoft.com/sharepoint/v3"/>
    <ds:schemaRef ds:uri="http://schemas.microsoft.com/office/2006/documentManagement/types"/>
    <ds:schemaRef ds:uri="37d47695-dda2-48a2-87bc-2a1f7ac7fedc"/>
    <ds:schemaRef ds:uri="http://www.w3.org/XML/1998/namespace"/>
  </ds:schemaRefs>
</ds:datastoreItem>
</file>

<file path=customXml/itemProps3.xml><?xml version="1.0" encoding="utf-8"?>
<ds:datastoreItem xmlns:ds="http://schemas.openxmlformats.org/officeDocument/2006/customXml" ds:itemID="{4B8E3D21-E603-4A1B-A79A-45A8E27A4A0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72</TotalTime>
  <Words>140</Words>
  <Application>Microsoft Office PowerPoint</Application>
  <PresentationFormat>Custom</PresentationFormat>
  <Paragraphs>30</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Calibri Light</vt:lpstr>
      <vt:lpstr>Office Theme</vt:lpstr>
      <vt:lpstr>PowerPoint Presentation</vt:lpstr>
    </vt:vector>
  </TitlesOfParts>
  <Company>Grand Canyon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Jon Valla</dc:creator>
  <cp:lastModifiedBy>Michelle Lipp (GCE)</cp:lastModifiedBy>
  <cp:revision>8</cp:revision>
  <dcterms:created xsi:type="dcterms:W3CDTF">2018-09-14T20:10:55Z</dcterms:created>
  <dcterms:modified xsi:type="dcterms:W3CDTF">2024-11-12T17:58:10Z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0x010100911D7BF13958C64483E7E107A08507EA</vt:lpwstr>
  </property>
  <property fmtid="{D5CDD505-2E9C-101B-9397-08002B2CF9AE}" pid="3" name="MediaServiceImageTags">
    <vt:lpwstr/>
  </property>
</Properties>
</file>